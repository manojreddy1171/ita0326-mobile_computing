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2"/>
  </p:notesMasterIdLst>
  <p:sldIdLst>
    <p:sldId id="256" r:id="rId3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160"/>
        <p:guide pos="3826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7B89D8-734E-416E-8C12-4FA3466CA422}" type="datetimeFigureOut">
              <a:rPr lang="en-IN" smtClean="0"/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306F1E-B58C-416D-864C-8ADD69858877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71058" y="1928703"/>
            <a:ext cx="8159496" cy="1650000"/>
          </a:xfrm>
        </p:spPr>
        <p:txBody>
          <a:bodyPr>
            <a:normAutofit/>
          </a:bodyPr>
          <a:lstStyle/>
          <a:p>
            <a:pPr marL="12700">
              <a:spcBef>
                <a:spcPts val="100"/>
              </a:spcBef>
            </a:pPr>
            <a:r>
              <a:rPr lang="en-US" sz="2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Cross-Platform Mobile Marketplace for Wholesale Buyers to Promote Inclusive Economic Growth and Digital Innovation</a:t>
            </a:r>
            <a:endParaRPr lang="en-US" sz="28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536180" y="5126354"/>
            <a:ext cx="4343400" cy="1731646"/>
          </a:xfrm>
        </p:spPr>
        <p:txBody>
          <a:bodyPr>
            <a:noAutofit/>
          </a:bodyPr>
          <a:lstStyle/>
          <a:p>
            <a:r>
              <a:rPr sz="2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 </a:t>
            </a:r>
            <a:endParaRPr lang="en-US" sz="20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 Karthik (192311320)</a:t>
            </a:r>
            <a:endParaRPr lang="en-US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Manoj Reddy (192311171)</a:t>
            </a:r>
            <a:endParaRPr lang="en-US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 Pavan Kalyan (192312178)</a:t>
            </a:r>
            <a:endParaRPr lang="en-US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1.png"/>
          <p:cNvPicPr/>
          <p:nvPr/>
        </p:nvPicPr>
        <p:blipFill>
          <a:blip r:embed="rId1"/>
          <a:srcRect/>
          <a:stretch>
            <a:fillRect/>
          </a:stretch>
        </p:blipFill>
        <p:spPr>
          <a:xfrm>
            <a:off x="1334278" y="339214"/>
            <a:ext cx="9601200" cy="855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406909" y="3703320"/>
            <a:ext cx="8528801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Course Code: ITA0326  |  Course Name: Mobile Computing</a:t>
            </a:r>
            <a:endParaRPr lang="en-US" altLang="en-US" sz="24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040967" y="4354084"/>
            <a:ext cx="8159496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Bodoni MT" panose="02070603080606020203" pitchFamily="18" charset="0"/>
              </a:rPr>
              <a:t>Supervised By: K Premkumar</a:t>
            </a:r>
            <a:endParaRPr lang="en-IN" sz="2000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109728"/>
            <a:ext cx="9509760" cy="914400"/>
          </a:xfrm>
        </p:spPr>
        <p:txBody>
          <a:bodyPr wrap="square" anchor="ctr"/>
          <a:lstStyle/>
          <a:p>
            <a:pPr algn="ctr"/>
            <a:r>
              <a:rPr sz="2800">
                <a:solidFill>
                  <a:srgbClr val="002060"/>
                </a:solidFill>
                <a:latin typeface="Algerian"/>
              </a:rPr>
              <a:t>Introduction and Background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" y="0"/>
            <a:ext cx="955040" cy="1096268"/>
          </a:xfrm>
          <a:prstGeom prst="rect">
            <a:avLst/>
          </a:prstGeom>
        </p:spPr>
      </p:pic>
      <p:pic>
        <p:nvPicPr>
          <p:cNvPr id="4" name="Picture 3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279" y="6450"/>
            <a:ext cx="1031065" cy="9757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258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100"/>
              </a:spcAft>
              <a:buFont typeface="Wingdings" pitchFamily="2" charset="2"/>
              <a:buChar char="Ø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Wholesale trade is the backbone of retail supply: small retailers, kirana stores and MSMEs buy goods in bulk from distributors and manufacturers.</a:t>
            </a:r>
          </a:p>
          <a:p>
            <a:pPr marL="274320" indent="-274320">
              <a:spcAft>
                <a:spcPts val="1100"/>
              </a:spcAft>
              <a:buFont typeface="Wingdings" pitchFamily="2" charset="2"/>
              <a:buChar char="Ø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Most bulk deals still run on phone calls, chat groups and middlemen, so prices are opaque and agreements are not recorded.</a:t>
            </a:r>
          </a:p>
          <a:p>
            <a:pPr marL="274320" indent="-274320">
              <a:spcAft>
                <a:spcPts val="1100"/>
              </a:spcAft>
              <a:buFont typeface="Wingdings" pitchFamily="2" charset="2"/>
              <a:buChar char="Ø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Smartphones are now the main internet device for small businesses, making mobile-first commerce the natural fit.</a:t>
            </a:r>
          </a:p>
          <a:p>
            <a:pPr marL="274320" indent="-274320">
              <a:spcAft>
                <a:spcPts val="1100"/>
              </a:spcAft>
              <a:buFont typeface="Wingdings" pitchFamily="2" charset="2"/>
              <a:buChar char="Ø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This project builds one cross-platform (Android and iOS) wholesale marketplace app from a single codebase.</a:t>
            </a:r>
          </a:p>
          <a:p>
            <a:pPr marL="274320" indent="-274320">
              <a:spcAft>
                <a:spcPts val="1100"/>
              </a:spcAft>
              <a:buFont typeface="Wingdings" pitchFamily="2" charset="2"/>
              <a:buChar char="Ø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Three focus modules: price negotiation, camera-based product listings and group buying.</a:t>
            </a:r>
          </a:p>
        </p:txBody>
      </p:sp>
      <p:pic>
        <p:nvPicPr>
          <p:cNvPr id="6" name="Picture 5" descr="c_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737360"/>
            <a:ext cx="4480560" cy="3530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52120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Times New Roman"/>
              </a:rPr>
              <a:t>Illustrative app home screen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109728"/>
            <a:ext cx="9509760" cy="914400"/>
          </a:xfrm>
        </p:spPr>
        <p:txBody>
          <a:bodyPr wrap="square" anchor="ctr"/>
          <a:lstStyle/>
          <a:p>
            <a:pPr algn="ctr"/>
            <a:r>
              <a:rPr sz="2800">
                <a:solidFill>
                  <a:srgbClr val="002060"/>
                </a:solidFill>
                <a:latin typeface="Algerian"/>
              </a:rPr>
              <a:t>Problem Statement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" y="0"/>
            <a:ext cx="955040" cy="1096268"/>
          </a:xfrm>
          <a:prstGeom prst="rect">
            <a:avLst/>
          </a:prstGeom>
        </p:spPr>
      </p:pic>
      <p:pic>
        <p:nvPicPr>
          <p:cNvPr id="4" name="Picture 3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279" y="6450"/>
            <a:ext cx="1031065" cy="9757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280160"/>
            <a:ext cx="11064240" cy="16002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Small and mid-sized wholesale buyers lack a mobile platform 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where they can negotiate bulk prices transparently, inspect products visually before ordering, and combine small orders to reach supplier minimum order quantities (MOQs). </a:t>
            </a:r>
            <a:r>
              <a:rPr sz="1800" b="1">
                <a:solidFill>
                  <a:srgbClr val="002060"/>
                </a:solidFill>
                <a:latin typeface="Times New Roman"/>
              </a:rPr>
              <a:t>As a result they pay more, risk receiving goods that differ from expectations, and miss out on wholesale discounts.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546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333756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310128"/>
            <a:ext cx="24688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002060"/>
                </a:solidFill>
                <a:latin typeface="Times New Roman"/>
              </a:rPr>
              <a:t>No transparent bulk pricing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Rates are fixed or settled over calls and chats. Buyers cannot easily counter-offer or track what was agreed.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607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070C0"/>
                </a:solidFill>
                <a:latin typeface="Times New Roman"/>
              </a:rPr>
              <a:t>Addressed by Module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1546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0" y="3337560"/>
            <a:ext cx="548640" cy="54864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3310128"/>
            <a:ext cx="24688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002060"/>
                </a:solidFill>
                <a:latin typeface="Times New Roman"/>
              </a:rPr>
              <a:t>Products cannot be inspected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11480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Listings carry weak or no photos, so buyers risk receiving goods that differ from what they expected.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7607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ED7D31"/>
                </a:solidFill>
                <a:latin typeface="Times New Roman"/>
              </a:rPr>
              <a:t>Addressed by Module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546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3337560"/>
            <a:ext cx="548640" cy="54864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3310128"/>
            <a:ext cx="24688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002060"/>
                </a:solidFill>
                <a:latin typeface="Times New Roman"/>
              </a:rPr>
              <a:t>Minimum order barrier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11480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Small buyers cannot meet MOQs alone, so they miss the discounts that large buyers receive.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57607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9E5B"/>
                </a:solidFill>
                <a:latin typeface="Times New Roman"/>
              </a:rPr>
              <a:t>Addressed by Module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109728"/>
            <a:ext cx="9509760" cy="914400"/>
          </a:xfrm>
        </p:spPr>
        <p:txBody>
          <a:bodyPr wrap="square" anchor="ctr"/>
          <a:lstStyle/>
          <a:p>
            <a:pPr algn="ctr"/>
            <a:r>
              <a:rPr sz="2800">
                <a:solidFill>
                  <a:srgbClr val="002060"/>
                </a:solidFill>
                <a:latin typeface="Algerian"/>
              </a:rPr>
              <a:t>Motivation and Need for the Project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" y="0"/>
            <a:ext cx="955040" cy="1096268"/>
          </a:xfrm>
          <a:prstGeom prst="rect">
            <a:avLst/>
          </a:prstGeom>
        </p:spPr>
      </p:pic>
      <p:pic>
        <p:nvPicPr>
          <p:cNvPr id="4" name="Picture 3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279" y="6450"/>
            <a:ext cx="1031065" cy="9757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325880"/>
            <a:ext cx="5440680" cy="2286000"/>
          </a:xfrm>
          <a:prstGeom prst="roundRect">
            <a:avLst>
              <a:gd name="adj" fmla="val 5000"/>
            </a:avLst>
          </a:prstGeom>
          <a:solidFill>
            <a:srgbClr val="F3F7FC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554480"/>
            <a:ext cx="594360" cy="59436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508760"/>
            <a:ext cx="4297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02060"/>
                </a:solidFill>
                <a:latin typeface="Times New Roman"/>
              </a:rPr>
              <a:t>Inclusive economic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8600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Gives small retailers and MSMEs access to wholesale prices and suppliers on a par with large buyers (aligned with UN SDG 8 and 9).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40680" cy="2286000"/>
          </a:xfrm>
          <a:prstGeom prst="roundRect">
            <a:avLst>
              <a:gd name="adj" fmla="val 5000"/>
            </a:avLst>
          </a:prstGeom>
          <a:solidFill>
            <a:srgbClr val="F3F7FC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0" y="1554480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508760"/>
            <a:ext cx="4297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02060"/>
                </a:solidFill>
                <a:latin typeface="Times New Roman"/>
              </a:rPr>
              <a:t>Mobile-first reality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28600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Smartphones are how small traders get online. One cross-platform app reaches Android and iOS users without two separate builds.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5440680" cy="2286000"/>
          </a:xfrm>
          <a:prstGeom prst="roundRect">
            <a:avLst>
              <a:gd name="adj" fmla="val 5000"/>
            </a:avLst>
          </a:prstGeom>
          <a:solidFill>
            <a:srgbClr val="F3F7FC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069080"/>
            <a:ext cx="594360" cy="59436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023360"/>
            <a:ext cx="4297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02060"/>
                </a:solidFill>
                <a:latin typeface="Times New Roman"/>
              </a:rPr>
              <a:t>Fewer middlemen, fairer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80060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Direct buyer-seller negotiation and pooled orders cut layers of margin and make prices transparent.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840480"/>
            <a:ext cx="5440680" cy="2286000"/>
          </a:xfrm>
          <a:prstGeom prst="roundRect">
            <a:avLst>
              <a:gd name="adj" fmla="val 5000"/>
            </a:avLst>
          </a:prstGeom>
          <a:solidFill>
            <a:srgbClr val="F3F7FC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0" y="4069080"/>
            <a:ext cx="594360" cy="59436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4023360"/>
            <a:ext cx="4297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02060"/>
                </a:solidFill>
                <a:latin typeface="Times New Roman"/>
              </a:rPr>
              <a:t>Digital innovation in everyday trade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80060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Brings camera-based listings, structured negotiation and demand pooling into routine wholesale buying.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109728"/>
            <a:ext cx="9509760" cy="914400"/>
          </a:xfrm>
        </p:spPr>
        <p:txBody>
          <a:bodyPr wrap="square" anchor="ctr"/>
          <a:lstStyle/>
          <a:p>
            <a:pPr algn="ctr"/>
            <a:r>
              <a:rPr sz="2800">
                <a:solidFill>
                  <a:srgbClr val="002060"/>
                </a:solidFill>
                <a:latin typeface="Algerian"/>
              </a:rPr>
              <a:t>Objectives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" y="0"/>
            <a:ext cx="955040" cy="1096268"/>
          </a:xfrm>
          <a:prstGeom prst="rect">
            <a:avLst/>
          </a:prstGeom>
        </p:spPr>
      </p:pic>
      <p:pic>
        <p:nvPicPr>
          <p:cNvPr id="4" name="Picture 3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279" y="6450"/>
            <a:ext cx="1031065" cy="9757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280160"/>
            <a:ext cx="11064240" cy="713232"/>
          </a:xfrm>
          <a:prstGeom prst="roundRect">
            <a:avLst>
              <a:gd name="adj" fmla="val 15000"/>
            </a:avLst>
          </a:prstGeom>
          <a:solidFill>
            <a:srgbClr val="F3F7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371600"/>
            <a:ext cx="530352" cy="530352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280160"/>
            <a:ext cx="1005840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To build a single-codebase, cross-platform mobile marketplace (Android and iOS) for wholesale buyers and sellers.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11064240" cy="713232"/>
          </a:xfrm>
          <a:prstGeom prst="roundRect">
            <a:avLst>
              <a:gd name="adj" fmla="val 15000"/>
            </a:avLst>
          </a:prstGeom>
          <a:solidFill>
            <a:srgbClr val="F3F7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2194560"/>
            <a:ext cx="530352" cy="530352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103120"/>
            <a:ext cx="1005840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To enable bulk price negotiation through offers, counteroffers and a recorded offer history (Module 1).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26080"/>
            <a:ext cx="11064240" cy="713232"/>
          </a:xfrm>
          <a:prstGeom prst="roundRect">
            <a:avLst>
              <a:gd name="adj" fmla="val 15000"/>
            </a:avLst>
          </a:prstGeom>
          <a:solidFill>
            <a:srgbClr val="F3F7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3017520"/>
            <a:ext cx="530352" cy="53035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26080"/>
            <a:ext cx="1005840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To let sellers create visual listings by capturing photos with the camera or uploading from the gallery (Module 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49039"/>
            <a:ext cx="11064240" cy="713232"/>
          </a:xfrm>
          <a:prstGeom prst="roundRect">
            <a:avLst>
              <a:gd name="adj" fmla="val 15000"/>
            </a:avLst>
          </a:prstGeom>
          <a:solidFill>
            <a:srgbClr val="F3F7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840479"/>
            <a:ext cx="530352" cy="530352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749039"/>
            <a:ext cx="1005840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To pool requests from multiple buyers so minimum order quantities are met and wholesale discounts unlocked (Module 3).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72000"/>
            <a:ext cx="11064240" cy="713232"/>
          </a:xfrm>
          <a:prstGeom prst="roundRect">
            <a:avLst>
              <a:gd name="adj" fmla="val 15000"/>
            </a:avLst>
          </a:prstGeom>
          <a:solidFill>
            <a:srgbClr val="F3F7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663440"/>
            <a:ext cx="530352" cy="5303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572000"/>
            <a:ext cx="1005840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To promote inclusive economic growth by opening wholesale access to small and medium buyers.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94960"/>
            <a:ext cx="11064240" cy="713232"/>
          </a:xfrm>
          <a:prstGeom prst="roundRect">
            <a:avLst>
              <a:gd name="adj" fmla="val 15000"/>
            </a:avLst>
          </a:prstGeom>
          <a:solidFill>
            <a:srgbClr val="F3F7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5486400"/>
            <a:ext cx="530352" cy="5303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394960"/>
            <a:ext cx="1005840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To evaluate usability and performance (startup time, response time, task completion) on both platforms.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5720"/>
            <a:ext cx="9509760" cy="822960"/>
          </a:xfrm>
        </p:spPr>
        <p:txBody>
          <a:bodyPr wrap="square" anchor="ctr"/>
          <a:lstStyle/>
          <a:p>
            <a:pPr algn="ctr"/>
            <a:r>
              <a:rPr sz="2800">
                <a:solidFill>
                  <a:srgbClr val="002060"/>
                </a:solidFill>
                <a:latin typeface="Algerian"/>
              </a:rPr>
              <a:t>Literature Survey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" y="0"/>
            <a:ext cx="955040" cy="1096268"/>
          </a:xfrm>
          <a:prstGeom prst="rect">
            <a:avLst/>
          </a:prstGeom>
        </p:spPr>
      </p:pic>
      <p:pic>
        <p:nvPicPr>
          <p:cNvPr id="4" name="Picture 3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279" y="6450"/>
            <a:ext cx="1031065" cy="97571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28600" y="896112"/>
          <a:ext cx="11795760" cy="5486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57200"/>
                <a:gridCol w="548640"/>
                <a:gridCol w="1783080"/>
                <a:gridCol w="1828800"/>
                <a:gridCol w="3657600"/>
                <a:gridCol w="352044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S.No</a:t>
                      </a:r>
                    </a:p>
                  </a:txBody>
                  <a:tcPr marL="45720" marR="45720" marT="22860" marB="2286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Year</a:t>
                      </a:r>
                    </a:p>
                  </a:txBody>
                  <a:tcPr marL="45720" marR="45720" marT="22860" marB="2286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Author(s)</a:t>
                      </a:r>
                    </a:p>
                  </a:txBody>
                  <a:tcPr marL="45720" marR="45720" marT="22860" marB="2286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Venue</a:t>
                      </a:r>
                    </a:p>
                  </a:txBody>
                  <a:tcPr marL="45720" marR="45720" marT="22860" marB="2286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Technique / Key Finding</a:t>
                      </a:r>
                    </a:p>
                  </a:txBody>
                  <a:tcPr marL="45720" marR="45720" marT="22860" marB="2286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Limitation / Gap (Module)</a:t>
                      </a:r>
                    </a:p>
                  </a:txBody>
                  <a:tcPr marL="45720" marR="45720" marT="22860" marB="22860" anchor="ctr">
                    <a:solidFill>
                      <a:srgbClr val="2E75B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2017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Gallo, Randazzo, Gallo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arXiv:1711.02661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e-Fair: aggregates buyers and sellers; optimises purchase and shipment (assignment and transshipment) with a Markov chain for arrivals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Evaluated by MATLAB simulation; no mobile app or negotiation (Module 3)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2018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Ma, Mezghani, Wilber et al.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arXiv:1811.10648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Inception v3 CNN (~87%) on ~75k listing images; good photos raise trust and odds of sale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Consumer second-hand goods, not wholesale (Module 2)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2021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Bagga, Paoletti, Alrayes, Stathis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Autonomous Agents and Multi-Agent Systems, 35:27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ANEGMA: actor-critic deep RL buyer agent for concurrent bilateral price negotiation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Simulated e-markets; single-issue (price) only (Module 1)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2024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Wang, Shu, Liu, Xie, Wang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J. Retailing and Consumer Services, 81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Experiments: initiator's account name affects willingness to join an online group purchase, via trust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Consumer social commerce; B2B pooling not studied (Module 3)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2024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Chatterjee, Miller, Parepally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arXiv:2412.18690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AgreeMate: LoRA fine-tuned LLaMA-3.2-3B buyer and seller agents, tested on Craigslist Bargaining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Course project; 30 test scenarios; small models repeat themselves (Module 1)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2024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Tiwari et al.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Int. J. of Research, 11(3)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ONDC could make Indian e-commerce more inclusive for SMEs and consumers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Conceptual review; no negotiation or pooling features (Inclusion)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2025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George, Kirubanand, Sandeep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IEEE ICCIST 2025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Native vs Flutter vs React Native: startup 1.5 s / 2.4 s / 3.0 s; Flutter faster to develop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One expense-tracker app on one Android phone (Technology)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2026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Liu, Chen, Xiao et al.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arXiv:2604.09855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GRPO reinforcement learning trains an LLM buyer on real Amazon listings; beats larger models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</a:rPr>
                        <a:t>Single seller model, 6-turn cap, two-party only (Module 1)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109728"/>
            <a:ext cx="9509760" cy="914400"/>
          </a:xfrm>
        </p:spPr>
        <p:txBody>
          <a:bodyPr wrap="square" anchor="ctr"/>
          <a:lstStyle/>
          <a:p>
            <a:pPr algn="ctr"/>
            <a:r>
              <a:rPr sz="2800">
                <a:solidFill>
                  <a:srgbClr val="002060"/>
                </a:solidFill>
                <a:latin typeface="Algerian"/>
              </a:rPr>
              <a:t>Existing System and its Limitations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" y="0"/>
            <a:ext cx="955040" cy="1096268"/>
          </a:xfrm>
          <a:prstGeom prst="rect">
            <a:avLst/>
          </a:prstGeom>
        </p:spPr>
      </p:pic>
      <p:pic>
        <p:nvPicPr>
          <p:cNvPr id="4" name="Picture 3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279" y="6450"/>
            <a:ext cx="1031065" cy="97571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6424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3840480"/>
                <a:gridCol w="44805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Approach</a:t>
                      </a:r>
                    </a:p>
                  </a:txBody>
                  <a:tcPr marL="45720" marR="45720" marT="22860" marB="2286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How it works today</a:t>
                      </a:r>
                    </a:p>
                  </a:txBody>
                  <a:tcPr marL="45720" marR="45720" marT="22860" marB="2286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Limitations</a:t>
                      </a:r>
                    </a:p>
                  </a:txBody>
                  <a:tcPr marL="45720" marR="45720" marT="22860" marB="22860" anchor="ctr">
                    <a:solidFill>
                      <a:srgbClr val="2E75B6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002060"/>
                          </a:solidFill>
                          <a:latin typeface="Times New Roman"/>
                        </a:rPr>
                        <a:t>Phone calls and chat groups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Buyers and distributors agree rates and orders by call or message.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structured offer history; prices are opaque and hard to compare; manual order tracking.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002060"/>
                          </a:solidFill>
                          <a:latin typeface="Times New Roman"/>
                        </a:rPr>
                        <a:t>Listing and directory portals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Sellers publish catalogues; buyers send enquiries, then trade offline.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Weak or text-only product images; enquiry-based pricing; no built-in negotiation or order flow.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002060"/>
                          </a:solidFill>
                          <a:latin typeface="Times New Roman"/>
                        </a:rPr>
                        <a:t>Fixed-price B2B apps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Buyers order at listed prices, often with large minimum quantities.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Small buyers often cannot meet MOQs; little room to bargain; discounts favour big orders.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21208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00206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FFC000"/>
                </a:solidFill>
                <a:latin typeface="Times New Roman"/>
              </a:rPr>
              <a:t>Research gap: </a:t>
            </a:r>
            <a:r>
              <a:rPr sz="1900" b="0">
                <a:solidFill>
                  <a:srgbClr val="FFFFFF"/>
                </a:solidFill>
                <a:latin typeface="Times New Roman"/>
              </a:rPr>
              <a:t>no single mobile app combines structured price negotiation, camera-based visual listings and buyer demand pooling for small wholesale buyers.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109728"/>
            <a:ext cx="9509760" cy="914400"/>
          </a:xfrm>
        </p:spPr>
        <p:txBody>
          <a:bodyPr wrap="square" anchor="ctr"/>
          <a:lstStyle/>
          <a:p>
            <a:pPr algn="ctr"/>
            <a:r>
              <a:rPr sz="2800">
                <a:solidFill>
                  <a:srgbClr val="002060"/>
                </a:solidFill>
                <a:latin typeface="Algerian"/>
              </a:rPr>
              <a:t>Proposed System and Novel Features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" y="0"/>
            <a:ext cx="955040" cy="1096268"/>
          </a:xfrm>
          <a:prstGeom prst="rect">
            <a:avLst/>
          </a:prstGeom>
        </p:spPr>
      </p:pic>
      <p:pic>
        <p:nvPicPr>
          <p:cNvPr id="4" name="Picture 3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279" y="6450"/>
            <a:ext cx="1031065" cy="9757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280160"/>
            <a:ext cx="3474720" cy="3337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371600"/>
            <a:ext cx="2514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  <a:latin typeface="Times New Roman"/>
              </a:rPr>
              <a:t>Smart Wholesale Price Negotiator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0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Buyer proposes price and quantity</a:t>
            </a:r>
          </a:p>
          <a:p>
            <a:pPr marL="274320" indent="-274320">
              <a:spcAft>
                <a:spcPts val="10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Seller accepts, rejects or counters</a:t>
            </a:r>
          </a:p>
          <a:p>
            <a:pPr marL="274320" indent="-274320">
              <a:spcAft>
                <a:spcPts val="10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Full offer history; deal locks at the agreed price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3337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ED7D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80" y="1417320"/>
            <a:ext cx="548640" cy="54864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371600"/>
            <a:ext cx="2514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  <a:latin typeface="Times New Roman"/>
              </a:rPr>
              <a:t>Camera and Image Uploads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2402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0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Capture photos with the mobile camera</a:t>
            </a:r>
          </a:p>
          <a:p>
            <a:pPr marL="274320" indent="-274320">
              <a:spcAft>
                <a:spcPts val="10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Or upload images from the gallery</a:t>
            </a:r>
          </a:p>
          <a:p>
            <a:pPr marL="274320" indent="-274320">
              <a:spcAft>
                <a:spcPts val="10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Buyers inspect products before ordering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280160"/>
            <a:ext cx="3474720" cy="3337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2E9E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21040" y="1417320"/>
            <a:ext cx="548640" cy="54864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1371600"/>
            <a:ext cx="2514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  <a:latin typeface="Times New Roman"/>
              </a:rPr>
              <a:t>Smart Group Buying and Demand Pooling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2402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0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Combines requests from many buyers</a:t>
            </a:r>
          </a:p>
          <a:p>
            <a:pPr marL="274320" indent="-274320">
              <a:spcAft>
                <a:spcPts val="10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Live progress toward the MOQ</a:t>
            </a:r>
          </a:p>
          <a:p>
            <a:pPr marL="274320" indent="-274320">
              <a:spcAft>
                <a:spcPts val="10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Unlocks wholesale discount tiers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02060"/>
                </a:solidFill>
                <a:latin typeface="Times New Roman"/>
              </a:rPr>
              <a:t>Novel features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1208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DEEAF6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2060"/>
                </a:solidFill>
                <a:latin typeface="Times New Roman"/>
              </a:rPr>
              <a:t>Offer and counteroffer with recorded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55848" y="521208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DEEAF6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2060"/>
                </a:solidFill>
                <a:latin typeface="Times New Roman"/>
              </a:rPr>
              <a:t>Camera-first listings with gallery fallback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521208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DEEAF6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2060"/>
                </a:solidFill>
                <a:latin typeface="Times New Roman"/>
              </a:rPr>
              <a:t>Auto-pooled MOQ progress tracker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521208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DEEAF6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2060"/>
                </a:solidFill>
                <a:latin typeface="Times New Roman"/>
              </a:rPr>
              <a:t>One codebase for Android and iOS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109728"/>
            <a:ext cx="9509760" cy="914400"/>
          </a:xfrm>
        </p:spPr>
        <p:txBody>
          <a:bodyPr wrap="square" anchor="ctr"/>
          <a:lstStyle/>
          <a:p>
            <a:pPr algn="ctr"/>
            <a:r>
              <a:rPr sz="2800">
                <a:solidFill>
                  <a:srgbClr val="002060"/>
                </a:solidFill>
                <a:latin typeface="Algerian"/>
              </a:rPr>
              <a:t>Proposed Methodology / Workflow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" y="0"/>
            <a:ext cx="955040" cy="1096268"/>
          </a:xfrm>
          <a:prstGeom prst="rect">
            <a:avLst/>
          </a:prstGeom>
        </p:spPr>
      </p:pic>
      <p:pic>
        <p:nvPicPr>
          <p:cNvPr id="4" name="Picture 3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279" y="6450"/>
            <a:ext cx="1031065" cy="9757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3258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Times New Roman"/>
              </a:rPr>
              <a:t>1  Register and choose role</a:t>
            </a: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Times New Roman"/>
              </a:rPr>
              <a:t>Buyer or Seller account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258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D7D31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Times New Roman"/>
              </a:rPr>
              <a:t>2  Seller creates listing</a:t>
            </a: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Times New Roman"/>
              </a:rPr>
              <a:t>Photo (camera/gallery), price, MOQ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3258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Times New Roman"/>
              </a:rPr>
              <a:t>3  Buyer browses and inspects</a:t>
            </a: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Times New Roman"/>
              </a:rPr>
              <a:t>Views product photos and details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840480" y="1783080"/>
            <a:ext cx="502920" cy="0"/>
          </a:xfrm>
          <a:prstGeom prst="line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35240" y="1783080"/>
            <a:ext cx="502920" cy="0"/>
          </a:xfrm>
          <a:prstGeom prst="line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784080" y="2240280"/>
            <a:ext cx="0" cy="502920"/>
          </a:xfrm>
          <a:prstGeom prst="line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8138160" y="2743200"/>
            <a:ext cx="3291840" cy="1554480"/>
          </a:xfrm>
          <a:prstGeom prst="diamond">
            <a:avLst/>
          </a:prstGeom>
          <a:solidFill>
            <a:srgbClr val="FFE699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02060"/>
                </a:solidFill>
                <a:latin typeface="Times New Roman"/>
              </a:rPr>
              <a:t>4  Choose buying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06324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5a  Negotiate (Module 1)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Offer, counteroffer, accept or reject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7635240" y="3520440"/>
            <a:ext cx="502920" cy="0"/>
          </a:xfrm>
          <a:prstGeom prst="line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310896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Times New Roman"/>
              </a:rPr>
              <a:t>Bulk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489204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2E9E5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5b  Join group pool (Module 3)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Quantities add up to the MOQ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84080" y="4297680"/>
            <a:ext cx="0" cy="594360"/>
          </a:xfrm>
          <a:prstGeom prst="line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75520" y="437083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Times New Roman"/>
              </a:rPr>
              <a:t>Small qty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489204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6  Deal agreed / MOQ reached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Final or discounted price locked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89320" y="3977639"/>
            <a:ext cx="0" cy="914401"/>
          </a:xfrm>
          <a:prstGeom prst="line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635240" y="5349240"/>
            <a:ext cx="502920" cy="0"/>
          </a:xfrm>
          <a:prstGeom prst="line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489204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1F6F4A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7  Order and notification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Confirmation sent to both parties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840480" y="5349240"/>
            <a:ext cx="502920" cy="0"/>
          </a:xfrm>
          <a:prstGeom prst="line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2697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  <a:latin typeface="Times New Roman"/>
              </a:rPr>
              <a:t>Module 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20040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07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13639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Module 1: Price negotiator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5760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D7D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359359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Module 2: Camera and image uploads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11480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2E9E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5079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Module 3: Group buying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109728"/>
            <a:ext cx="9509760" cy="914400"/>
          </a:xfrm>
        </p:spPr>
        <p:txBody>
          <a:bodyPr wrap="square" anchor="ctr"/>
          <a:lstStyle/>
          <a:p>
            <a:pPr algn="ctr"/>
            <a:r>
              <a:rPr sz="2800">
                <a:solidFill>
                  <a:srgbClr val="002060"/>
                </a:solidFill>
                <a:latin typeface="Algerian"/>
              </a:rPr>
              <a:t>System Architecture Diagram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" y="0"/>
            <a:ext cx="955040" cy="1096268"/>
          </a:xfrm>
          <a:prstGeom prst="rect">
            <a:avLst/>
          </a:prstGeom>
        </p:spPr>
      </p:pic>
      <p:pic>
        <p:nvPicPr>
          <p:cNvPr id="4" name="Picture 3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279" y="6450"/>
            <a:ext cx="1031065" cy="9757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188720"/>
            <a:ext cx="1783080" cy="1143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Client Layer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CADCFC"/>
                </a:solidFill>
                <a:latin typeface="Times New Roman"/>
              </a:rPr>
              <a:t>Flutter app (Android + iOS)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1188720"/>
            <a:ext cx="9189720" cy="1143000"/>
          </a:xfrm>
          <a:prstGeom prst="roundRect">
            <a:avLst>
              <a:gd name="adj" fmla="val 5000"/>
            </a:avLst>
          </a:prstGeom>
          <a:solidFill>
            <a:srgbClr val="F3F7FC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1783080" cy="77724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API Layer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CADCFC"/>
                </a:solidFill>
                <a:latin typeface="Times New Roman"/>
              </a:rPr>
              <a:t>REST over HTTPS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2651760"/>
            <a:ext cx="9189720" cy="777240"/>
          </a:xfrm>
          <a:prstGeom prst="roundRect">
            <a:avLst>
              <a:gd name="adj" fmla="val 5000"/>
            </a:avLst>
          </a:prstGeom>
          <a:solidFill>
            <a:srgbClr val="F3F7FC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749039"/>
            <a:ext cx="1783080" cy="128016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Service Layer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CADCFC"/>
                </a:solidFill>
                <a:latin typeface="Times New Roman"/>
              </a:rPr>
              <a:t>Business logic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3160" y="3749039"/>
            <a:ext cx="9189720" cy="1280160"/>
          </a:xfrm>
          <a:prstGeom prst="roundRect">
            <a:avLst>
              <a:gd name="adj" fmla="val 5000"/>
            </a:avLst>
          </a:prstGeom>
          <a:solidFill>
            <a:srgbClr val="F3F7FC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349240"/>
            <a:ext cx="1783080" cy="100584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Data and Cloud Layer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CADCFC"/>
                </a:solidFill>
                <a:latin typeface="Times New Roman"/>
              </a:rPr>
              <a:t>Storage and push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5349240"/>
            <a:ext cx="9189720" cy="1005840"/>
          </a:xfrm>
          <a:prstGeom prst="roundRect">
            <a:avLst>
              <a:gd name="adj" fmla="val 5000"/>
            </a:avLst>
          </a:prstGeom>
          <a:solidFill>
            <a:srgbClr val="F3F7FC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0" y="1325880"/>
            <a:ext cx="2849880" cy="868680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Buyer screens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Browse, offer, join pool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93080" y="1325880"/>
            <a:ext cx="2849880" cy="868680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Seller screens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Create listing, respond to offers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25840" y="1325880"/>
            <a:ext cx="2849880" cy="868680"/>
          </a:xfrm>
          <a:prstGeom prst="roundRect">
            <a:avLst>
              <a:gd name="adj" fmla="val 12000"/>
            </a:avLst>
          </a:prstGeom>
          <a:solidFill>
            <a:srgbClr val="ED7D31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Device camera / gallery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Image capture and pick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60320" y="2788920"/>
            <a:ext cx="8915400" cy="50292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REST API gateway: authentication (JWT) and role check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0320" y="3886200"/>
            <a:ext cx="2091690" cy="1005839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imes New Roman"/>
              </a:rPr>
              <a:t>Negotiation Service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</a:rPr>
              <a:t>Offers, counters, history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34890" y="3886200"/>
            <a:ext cx="2091690" cy="1005839"/>
          </a:xfrm>
          <a:prstGeom prst="roundRect">
            <a:avLst>
              <a:gd name="adj" fmla="val 12000"/>
            </a:avLst>
          </a:prstGeom>
          <a:solidFill>
            <a:srgbClr val="ED7D31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imes New Roman"/>
              </a:rPr>
              <a:t>Image Service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</a:rPr>
              <a:t>Validate, compress, upload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9460" y="3886200"/>
            <a:ext cx="2091690" cy="1005839"/>
          </a:xfrm>
          <a:prstGeom prst="roundRect">
            <a:avLst>
              <a:gd name="adj" fmla="val 12000"/>
            </a:avLst>
          </a:prstGeom>
          <a:solidFill>
            <a:srgbClr val="2E9E5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imes New Roman"/>
              </a:rPr>
              <a:t>Group Buying Service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</a:rPr>
              <a:t>Pools, MOQ, discounts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4030" y="3886200"/>
            <a:ext cx="2091690" cy="1005839"/>
          </a:xfrm>
          <a:prstGeom prst="roundRect">
            <a:avLst>
              <a:gd name="adj" fmla="val 12000"/>
            </a:avLst>
          </a:prstGeom>
          <a:solidFill>
            <a:srgbClr val="7F7F7F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Times New Roman"/>
              </a:rPr>
              <a:t>Order and Notification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</a:rPr>
              <a:t>Orders, alerts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0320" y="5486400"/>
            <a:ext cx="2849880" cy="731520"/>
          </a:xfrm>
          <a:prstGeom prst="roundRect">
            <a:avLst>
              <a:gd name="adj" fmla="val 12000"/>
            </a:avLst>
          </a:prstGeom>
          <a:solidFill>
            <a:srgbClr val="44546A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MySQL database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93080" y="5486400"/>
            <a:ext cx="2849880" cy="731520"/>
          </a:xfrm>
          <a:prstGeom prst="roundRect">
            <a:avLst>
              <a:gd name="adj" fmla="val 12000"/>
            </a:avLst>
          </a:prstGeom>
          <a:solidFill>
            <a:srgbClr val="44546A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Cloud image storage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25840" y="5486400"/>
            <a:ext cx="2849880" cy="731520"/>
          </a:xfrm>
          <a:prstGeom prst="roundRect">
            <a:avLst>
              <a:gd name="adj" fmla="val 12000"/>
            </a:avLst>
          </a:prstGeom>
          <a:solidFill>
            <a:srgbClr val="44546A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Push notifications (FCM)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95160" y="2331720"/>
            <a:ext cx="0" cy="320040"/>
          </a:xfrm>
          <a:prstGeom prst="line">
            <a:avLst/>
          </a:prstGeom>
          <a:ln w="31750">
            <a:solidFill>
              <a:srgbClr val="00206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995160" y="3429000"/>
            <a:ext cx="0" cy="320039"/>
          </a:xfrm>
          <a:prstGeom prst="line">
            <a:avLst/>
          </a:prstGeom>
          <a:ln w="31750">
            <a:solidFill>
              <a:srgbClr val="00206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95160" y="5029200"/>
            <a:ext cx="0" cy="320040"/>
          </a:xfrm>
          <a:prstGeom prst="line">
            <a:avLst/>
          </a:prstGeom>
          <a:ln w="31750">
            <a:solidFill>
              <a:srgbClr val="00206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109728"/>
            <a:ext cx="9509760" cy="914400"/>
          </a:xfrm>
        </p:spPr>
        <p:txBody>
          <a:bodyPr wrap="square" anchor="ctr"/>
          <a:lstStyle/>
          <a:p>
            <a:pPr algn="ctr"/>
            <a:r>
              <a:rPr sz="2800">
                <a:solidFill>
                  <a:srgbClr val="002060"/>
                </a:solidFill>
                <a:latin typeface="Algerian"/>
              </a:rPr>
              <a:t>Technologies, Software, Hardware and Tools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" y="0"/>
            <a:ext cx="955040" cy="1096268"/>
          </a:xfrm>
          <a:prstGeom prst="rect">
            <a:avLst/>
          </a:prstGeom>
        </p:spPr>
      </p:pic>
      <p:pic>
        <p:nvPicPr>
          <p:cNvPr id="4" name="Picture 3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279" y="6450"/>
            <a:ext cx="1031065" cy="9757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280160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440680" cy="548640"/>
          </a:xfrm>
          <a:prstGeom prst="roundRect">
            <a:avLst>
              <a:gd name="adj" fmla="val 20000"/>
            </a:avLst>
          </a:prstGeom>
          <a:solidFill>
            <a:srgbClr val="0070C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38528"/>
            <a:ext cx="50292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Flutter (Dart): cross-platform UI</a:t>
            </a:r>
          </a:p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Spring Boot (Java): REST API</a:t>
            </a:r>
          </a:p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MySQL: relational database</a:t>
            </a:r>
          </a:p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JSON over HTTPS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280160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280160"/>
            <a:ext cx="5440680" cy="548640"/>
          </a:xfrm>
          <a:prstGeom prst="roundRect">
            <a:avLst>
              <a:gd name="adj" fmla="val 20000"/>
            </a:avLst>
          </a:prstGeom>
          <a:solidFill>
            <a:srgbClr val="ED7D31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Hardware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38528"/>
            <a:ext cx="50292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Android and iOS smartphones with camera</a:t>
            </a:r>
          </a:p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Development laptop (8 GB RAM or more)</a:t>
            </a:r>
          </a:p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Wi-Fi / mobile data for testing</a:t>
            </a:r>
          </a:p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Android emulator and iOS simulator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79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840479"/>
            <a:ext cx="5440680" cy="548640"/>
          </a:xfrm>
          <a:prstGeom prst="roundRect">
            <a:avLst>
              <a:gd name="adj" fmla="val 20000"/>
            </a:avLst>
          </a:prstGeom>
          <a:solidFill>
            <a:srgbClr val="2E9E5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98847"/>
            <a:ext cx="50292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Android Studio and VS Code</a:t>
            </a:r>
          </a:p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Git and GitHub</a:t>
            </a:r>
          </a:p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Postman for API testing</a:t>
            </a:r>
          </a:p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Figma for UI wireframes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840479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3840479"/>
            <a:ext cx="5440680" cy="548640"/>
          </a:xfrm>
          <a:prstGeom prst="roundRect">
            <a:avLst>
              <a:gd name="adj" fmla="val 20000"/>
            </a:avLst>
          </a:prstGeom>
          <a:solidFill>
            <a:srgbClr val="00206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Libraries and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498847"/>
            <a:ext cx="50292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image_picker and camera plugins</a:t>
            </a:r>
          </a:p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Firebase Cloud Messaging (push)</a:t>
            </a:r>
          </a:p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Cloud object storage for images</a:t>
            </a:r>
          </a:p>
          <a:p>
            <a:pPr marL="274320" indent="-274320">
              <a:spcAft>
                <a:spcPts val="500"/>
              </a:spcAft>
              <a:buFont typeface="Wingdings" pitchFamily="2" charset="2"/>
              <a:buChar char="Ø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JWT for authentication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109728"/>
            <a:ext cx="9509760" cy="914400"/>
          </a:xfrm>
        </p:spPr>
        <p:txBody>
          <a:bodyPr wrap="square" anchor="ctr"/>
          <a:lstStyle/>
          <a:p>
            <a:pPr algn="ctr"/>
            <a:r>
              <a:rPr sz="2800">
                <a:solidFill>
                  <a:srgbClr val="002060"/>
                </a:solidFill>
                <a:latin typeface="Algerian"/>
              </a:rPr>
              <a:t>Dataset or Data Collection Method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" y="0"/>
            <a:ext cx="955040" cy="1096268"/>
          </a:xfrm>
          <a:prstGeom prst="rect">
            <a:avLst/>
          </a:prstGeom>
        </p:spPr>
      </p:pic>
      <p:pic>
        <p:nvPicPr>
          <p:cNvPr id="4" name="Picture 3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279" y="6450"/>
            <a:ext cx="1031065" cy="9757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2801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02060"/>
                </a:solidFill>
                <a:latin typeface="Times New Roman"/>
              </a:rPr>
              <a:t>How data is collected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900"/>
              </a:spcAft>
              <a:buFont typeface="Wingdings" pitchFamily="2" charset="2"/>
              <a:buChar char="Ø"/>
            </a:pPr>
            <a:r>
              <a:rPr sz="1700" b="1">
                <a:solidFill>
                  <a:srgbClr val="002060"/>
                </a:solidFill>
                <a:latin typeface="Times New Roman"/>
              </a:rPr>
              <a:t>Seed catalogue: 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sample wholesale products (grocery, FMCG, apparel) with prices and MOQ tiers.</a:t>
            </a:r>
          </a:p>
          <a:p>
            <a:pPr marL="274320" indent="-274320">
              <a:spcAft>
                <a:spcPts val="900"/>
              </a:spcAft>
              <a:buFont typeface="Wingdings" pitchFamily="2" charset="2"/>
              <a:buChar char="Ø"/>
            </a:pPr>
            <a:r>
              <a:rPr sz="1700" b="1">
                <a:solidFill>
                  <a:srgbClr val="002060"/>
                </a:solidFill>
                <a:latin typeface="Times New Roman"/>
              </a:rPr>
              <a:t>Product images: 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photos captured in-app by camera or gallery during testing.</a:t>
            </a:r>
          </a:p>
          <a:p>
            <a:pPr marL="274320" indent="-274320">
              <a:spcAft>
                <a:spcPts val="900"/>
              </a:spcAft>
              <a:buFont typeface="Wingdings" pitchFamily="2" charset="2"/>
              <a:buChar char="Ø"/>
            </a:pPr>
            <a:r>
              <a:rPr sz="1700" b="1">
                <a:solidFill>
                  <a:srgbClr val="002060"/>
                </a:solidFill>
                <a:latin typeface="Times New Roman"/>
              </a:rPr>
              <a:t>Synthetic transactions: 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simulated offers, counteroffers and group orders to test the logic.</a:t>
            </a:r>
          </a:p>
          <a:p>
            <a:pPr marL="274320" indent="-274320">
              <a:spcAft>
                <a:spcPts val="900"/>
              </a:spcAft>
              <a:buFont typeface="Wingdings" pitchFamily="2" charset="2"/>
              <a:buChar char="Ø"/>
            </a:pPr>
            <a:r>
              <a:rPr sz="1700" b="1">
                <a:solidFill>
                  <a:srgbClr val="002060"/>
                </a:solidFill>
                <a:latin typeface="Times New Roman"/>
              </a:rPr>
              <a:t>Field input: 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short interviews with local wholesalers and retailers to validate requirements (planned).</a:t>
            </a:r>
          </a:p>
          <a:p>
            <a:pPr marL="274320" indent="-274320">
              <a:spcAft>
                <a:spcPts val="900"/>
              </a:spcAft>
              <a:buFont typeface="Wingdings" pitchFamily="2" charset="2"/>
              <a:buChar char="Ø"/>
            </a:pPr>
            <a:r>
              <a:rPr sz="1700" b="1">
                <a:solidFill>
                  <a:srgbClr val="002060"/>
                </a:solidFill>
                <a:latin typeface="Times New Roman"/>
              </a:rPr>
              <a:t>Reference prices: 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public wholesale price listings for realistic ranges.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02060"/>
                </a:solidFill>
                <a:latin typeface="Times New Roman"/>
              </a:rPr>
              <a:t>Data model (core entities)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783080"/>
          <a:ext cx="5394960" cy="39684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54480"/>
                <a:gridCol w="384048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Entity</a:t>
                      </a:r>
                    </a:p>
                  </a:txBody>
                  <a:tcPr marL="45720" marR="45720" marT="22860" marB="2286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Key fields</a:t>
                      </a:r>
                    </a:p>
                  </a:txBody>
                  <a:tcPr marL="45720" marR="45720" marT="22860" marB="22860" anchor="ctr">
                    <a:solidFill>
                      <a:srgbClr val="2E75B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2060"/>
                          </a:solidFill>
                          <a:latin typeface="Times New Roman"/>
                        </a:rPr>
                        <a:t>Users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id, role (buyer/seller), name, phone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2060"/>
                          </a:solidFill>
                          <a:latin typeface="Times New Roman"/>
                        </a:rPr>
                        <a:t>Products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id, seller, name, category, price, MOQ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2060"/>
                          </a:solidFill>
                          <a:latin typeface="Times New Roman"/>
                        </a:rPr>
                        <a:t>Images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product id, image URL, source (camera/gallery)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2060"/>
                          </a:solidFill>
                          <a:latin typeface="Times New Roman"/>
                        </a:rPr>
                        <a:t>Offers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product, buyer, quantity, price, status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2060"/>
                          </a:solidFill>
                          <a:latin typeface="Times New Roman"/>
                        </a:rPr>
                        <a:t>Group pools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product, target qty, joined qty, deadline</a:t>
                      </a:r>
                    </a:p>
                  </a:txBody>
                  <a:tcPr marL="45720" marR="45720" marT="22860" marB="22860" anchor="ctr">
                    <a:solidFill>
                      <a:srgbClr val="DEEA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2060"/>
                          </a:solidFill>
                          <a:latin typeface="Times New Roman"/>
                        </a:rPr>
                        <a:t>Orders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buyer, product, final price, status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109728"/>
            <a:ext cx="9509760" cy="914400"/>
          </a:xfrm>
        </p:spPr>
        <p:txBody>
          <a:bodyPr wrap="square" anchor="ctr"/>
          <a:lstStyle/>
          <a:p>
            <a:pPr algn="ctr"/>
            <a:r>
              <a:rPr sz="2800">
                <a:solidFill>
                  <a:srgbClr val="002060"/>
                </a:solidFill>
                <a:latin typeface="Algerian"/>
              </a:rPr>
              <a:t>Module-wise Design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" y="0"/>
            <a:ext cx="955040" cy="1096268"/>
          </a:xfrm>
          <a:prstGeom prst="rect">
            <a:avLst/>
          </a:prstGeom>
        </p:spPr>
      </p:pic>
      <p:pic>
        <p:nvPicPr>
          <p:cNvPr id="4" name="Picture 3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279" y="6450"/>
            <a:ext cx="1031065" cy="9757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188720"/>
            <a:ext cx="11064240" cy="1645920"/>
          </a:xfrm>
          <a:prstGeom prst="roundRect">
            <a:avLst>
              <a:gd name="adj" fmla="val 5000"/>
            </a:avLst>
          </a:prstGeom>
          <a:solidFill>
            <a:srgbClr val="F3F7FC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c_ne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225296"/>
            <a:ext cx="2069432" cy="1572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0" y="1234440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0070C0"/>
                </a:solidFill>
                <a:latin typeface="Times New Roman"/>
              </a:rPr>
              <a:t>Module 1: Smart Wholesale Price Negotiator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45920"/>
            <a:ext cx="8321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02060"/>
                </a:solidFill>
                <a:latin typeface="Times New Roman"/>
              </a:rPr>
              <a:t>Input: 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product, quantity and the buyer's offered price.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2060"/>
                </a:solidFill>
                <a:latin typeface="Times New Roman"/>
              </a:rPr>
              <a:t>Process: 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seller accepts, rejects or counters; each step is stored as an offer record; negotiation ends at an agreed price or expires.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2060"/>
                </a:solidFill>
                <a:latin typeface="Times New Roman"/>
              </a:rPr>
              <a:t>Output: 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locked deal price and an order request.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26080"/>
            <a:ext cx="11064240" cy="1645920"/>
          </a:xfrm>
          <a:prstGeom prst="roundRect">
            <a:avLst>
              <a:gd name="adj" fmla="val 5000"/>
            </a:avLst>
          </a:prstGeom>
          <a:solidFill>
            <a:srgbClr val="F3F7FC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c_camer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962656"/>
            <a:ext cx="1966350" cy="1572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0400" y="2971800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ED7D31"/>
                </a:solidFill>
                <a:latin typeface="Times New Roman"/>
              </a:rPr>
              <a:t>Module 2: Camera and Image Uploads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383280"/>
            <a:ext cx="8321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02060"/>
                </a:solidFill>
                <a:latin typeface="Times New Roman"/>
              </a:rPr>
              <a:t>Input: 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photo from the mobile camera or an image from the gallery.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2060"/>
                </a:solidFill>
                <a:latin typeface="Times New Roman"/>
              </a:rPr>
              <a:t>Process: 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permission check, validate and compress, upload to cloud storage, link to the product listing.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2060"/>
                </a:solidFill>
                <a:latin typeface="Times New Roman"/>
              </a:rPr>
              <a:t>Output: 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listing with an image gallery that buyers can inspect.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663440"/>
            <a:ext cx="11064240" cy="1645920"/>
          </a:xfrm>
          <a:prstGeom prst="roundRect">
            <a:avLst>
              <a:gd name="adj" fmla="val 5000"/>
            </a:avLst>
          </a:prstGeom>
          <a:solidFill>
            <a:srgbClr val="F3F7FC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c_gro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700016"/>
            <a:ext cx="2046004" cy="15727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200400" y="4709159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2E9E5B"/>
                </a:solidFill>
                <a:latin typeface="Times New Roman"/>
              </a:rPr>
              <a:t>Module 3: Smart Group Buying and Demand Pooling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120640"/>
            <a:ext cx="8321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02060"/>
                </a:solidFill>
                <a:latin typeface="Times New Roman"/>
              </a:rPr>
              <a:t>Input: 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purchase requests (product, quantity) from many buyers.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2060"/>
                </a:solidFill>
                <a:latin typeface="Times New Roman"/>
              </a:rPr>
              <a:t>Process: 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quantities are pooled toward the MOQ target; discount tier applied; deadline closes the pool.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2060"/>
                </a:solidFill>
                <a:latin typeface="Times New Roman"/>
              </a:rPr>
              <a:t>Output: 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unlocked wholesale price, consolidated order and notifications.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109728"/>
            <a:ext cx="9509760" cy="914400"/>
          </a:xfrm>
        </p:spPr>
        <p:txBody>
          <a:bodyPr wrap="square" anchor="ctr"/>
          <a:lstStyle/>
          <a:p>
            <a:pPr algn="ctr"/>
            <a:r>
              <a:rPr sz="2800">
                <a:solidFill>
                  <a:srgbClr val="002060"/>
                </a:solidFill>
                <a:latin typeface="Algerian"/>
              </a:rPr>
              <a:t>Current Progress and Future Work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" y="0"/>
            <a:ext cx="955040" cy="1096268"/>
          </a:xfrm>
          <a:prstGeom prst="rect">
            <a:avLst/>
          </a:prstGeom>
        </p:spPr>
      </p:pic>
      <p:pic>
        <p:nvPicPr>
          <p:cNvPr id="4" name="Picture 3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279" y="6450"/>
            <a:ext cx="1031065" cy="9757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280160"/>
            <a:ext cx="347472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474720" cy="594360"/>
          </a:xfrm>
          <a:prstGeom prst="roundRect">
            <a:avLst>
              <a:gd name="adj" fmla="val 20000"/>
            </a:avLst>
          </a:prstGeom>
          <a:solidFill>
            <a:srgbClr val="2E9E5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Times New Roman"/>
              </a:rPr>
              <a:t>Completed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154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  <a:buFont typeface="Wingdings" pitchFamily="2" charset="2"/>
              <a:buChar char="Ø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Problem study and module finalization</a:t>
            </a:r>
          </a:p>
          <a:p>
            <a:pPr marL="274320" indent="-274320">
              <a:spcAft>
                <a:spcPts val="1200"/>
              </a:spcAft>
              <a:buFont typeface="Wingdings" pitchFamily="2" charset="2"/>
              <a:buChar char="Ø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Literature survey of 8 recent papers</a:t>
            </a:r>
          </a:p>
          <a:p>
            <a:pPr marL="274320" indent="-274320">
              <a:spcAft>
                <a:spcPts val="1200"/>
              </a:spcAft>
              <a:buFont typeface="Wingdings" pitchFamily="2" charset="2"/>
              <a:buChar char="Ø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System architecture and workflow design</a:t>
            </a:r>
          </a:p>
          <a:p>
            <a:pPr marL="274320" indent="-274320">
              <a:spcAft>
                <a:spcPts val="1200"/>
              </a:spcAft>
              <a:buFont typeface="Wingdings" pitchFamily="2" charset="2"/>
              <a:buChar char="Ø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Technology stack selection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80160"/>
            <a:ext cx="347472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594360"/>
          </a:xfrm>
          <a:prstGeom prst="roundRect">
            <a:avLst>
              <a:gd name="adj" fmla="val 20000"/>
            </a:avLst>
          </a:prstGeom>
          <a:solidFill>
            <a:srgbClr val="ED7D31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Times New Roman"/>
              </a:rPr>
              <a:t>In Progress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011680"/>
            <a:ext cx="3154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  <a:buFont typeface="Wingdings" pitchFamily="2" charset="2"/>
              <a:buChar char="Ø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Flutter UI screens for the three modules</a:t>
            </a:r>
          </a:p>
          <a:p>
            <a:pPr marL="274320" indent="-274320">
              <a:spcAft>
                <a:spcPts val="1200"/>
              </a:spcAft>
              <a:buFont typeface="Wingdings" pitchFamily="2" charset="2"/>
              <a:buChar char="Ø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Backend REST APIs and database schema</a:t>
            </a:r>
          </a:p>
          <a:p>
            <a:pPr marL="274320" indent="-274320">
              <a:spcAft>
                <a:spcPts val="1200"/>
              </a:spcAft>
              <a:buFont typeface="Wingdings" pitchFamily="2" charset="2"/>
              <a:buChar char="Ø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Camera and gallery upload integration</a:t>
            </a:r>
          </a:p>
          <a:p>
            <a:pPr marL="274320" indent="-274320">
              <a:spcAft>
                <a:spcPts val="1200"/>
              </a:spcAft>
              <a:buFont typeface="Wingdings" pitchFamily="2" charset="2"/>
              <a:buChar char="Ø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Offer and counteroffer logic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280160"/>
            <a:ext cx="347472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B8CC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38160" y="1280160"/>
            <a:ext cx="3474720" cy="594360"/>
          </a:xfrm>
          <a:prstGeom prst="roundRect">
            <a:avLst>
              <a:gd name="adj" fmla="val 20000"/>
            </a:avLst>
          </a:prstGeom>
          <a:solidFill>
            <a:srgbClr val="0070C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Times New Roman"/>
              </a:rPr>
              <a:t>Future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011680"/>
            <a:ext cx="3154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  <a:buFont typeface="Wingdings" pitchFamily="2" charset="2"/>
              <a:buChar char="Ø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Real-time chat and push alerts for offers</a:t>
            </a:r>
          </a:p>
          <a:p>
            <a:pPr marL="274320" indent="-274320">
              <a:spcAft>
                <a:spcPts val="1200"/>
              </a:spcAft>
              <a:buFont typeface="Wingdings" pitchFamily="2" charset="2"/>
              <a:buChar char="Ø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UPI payments and delivery tracking</a:t>
            </a:r>
          </a:p>
          <a:p>
            <a:pPr marL="274320" indent="-274320">
              <a:spcAft>
                <a:spcPts val="1200"/>
              </a:spcAft>
              <a:buFont typeface="Wingdings" pitchFamily="2" charset="2"/>
              <a:buChar char="Ø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Regional-language support</a:t>
            </a:r>
          </a:p>
          <a:p>
            <a:pPr marL="274320" indent="-274320">
              <a:spcAft>
                <a:spcPts val="1200"/>
              </a:spcAft>
              <a:buFont typeface="Wingdings" pitchFamily="2" charset="2"/>
              <a:buChar char="Ø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AI price suggestions and demand forecasting</a:t>
            </a:r>
          </a:p>
          <a:p>
            <a:pPr marL="274320" indent="-274320">
              <a:spcAft>
                <a:spcPts val="1200"/>
              </a:spcAft>
              <a:buFont typeface="Wingdings" pitchFamily="2" charset="2"/>
              <a:buChar char="Ø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Usability testing with real wholesalers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5216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00206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Thank you  |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7907</Words>
  <Application>WPS Presentation</Application>
  <PresentationFormat/>
  <Paragraphs>234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2" baseType="lpstr">
      <vt:lpstr>Arial</vt:lpstr>
      <vt:lpstr>SimSun</vt:lpstr>
      <vt:lpstr>Wingdings</vt:lpstr>
      <vt:lpstr>Arial</vt:lpstr>
      <vt:lpstr>Times New Roman</vt:lpstr>
      <vt:lpstr>Calibri</vt:lpstr>
      <vt:lpstr>Bodoni MT</vt:lpstr>
      <vt:lpstr>Times New Roman</vt:lpstr>
      <vt:lpstr>Algerian</vt:lpstr>
      <vt:lpstr>Noto Sans</vt:lpstr>
      <vt:lpstr>Sans Serif Collection</vt:lpstr>
      <vt:lpstr>Lucida Handwriting</vt:lpstr>
      <vt:lpstr>Microsoft YaHei</vt:lpstr>
      <vt:lpstr>Arial Unicode MS</vt:lpstr>
      <vt:lpstr>Wingdings</vt:lpstr>
      <vt:lpstr>Office Theme</vt:lpstr>
      <vt:lpstr>Electric Vehicle Charging Demand Forecasting Using Moment Generating Functions and Probability Models</vt:lpstr>
      <vt:lpstr>introduction</vt:lpstr>
      <vt:lpstr>Problem Statement</vt:lpstr>
      <vt:lpstr>Objectives</vt:lpstr>
      <vt:lpstr>Scope of project</vt:lpstr>
      <vt:lpstr>Literature Survey</vt:lpstr>
      <vt:lpstr>System Architecture</vt:lpstr>
      <vt:lpstr>Mathematical Framework</vt:lpstr>
      <vt:lpstr>Module 1: Data Collection &amp; Preprocessing</vt:lpstr>
      <vt:lpstr>PowerPoint 演示文稿</vt:lpstr>
      <vt:lpstr>PowerPoint 演示文稿</vt:lpstr>
      <vt:lpstr>PowerPoint 演示文稿</vt:lpstr>
      <vt:lpstr>Implementation</vt:lpstr>
      <vt:lpstr>Conclusion and Future Enhancement</vt:lpstr>
      <vt:lpstr>References</vt:lpstr>
      <vt:lpstr>Thank You!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Electric Vehicle Charging Demand Forecasting Using Moment Generating Functions and Probability Models </dc:title>
  <dc:creator/>
  <cp:lastModifiedBy>manoj reddy sse</cp:lastModifiedBy>
  <cp:revision>1</cp:revision>
  <dcterms:created xsi:type="dcterms:W3CDTF">2026-09-05T08:48:49Z</dcterms:created>
  <dcterms:modified xsi:type="dcterms:W3CDTF">2026-09-05T08:48:49Z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465D82B95D76442890F16D2E31635551_13</vt:lpwstr>
  </property>
</Properties>
</file>