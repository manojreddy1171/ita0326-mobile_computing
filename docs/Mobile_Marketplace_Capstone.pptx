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7"/>
  </p:notesMasterIdLst>
  <p:sldIdLst>
    <p:sldId id="256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</p:sldIdLst>
  <p:sldSz cx="12192000" cy="6858000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383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7B89D8-734E-416E-8C12-4FA3466CA422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306F1E-B58C-416D-864C-8ADD69858877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71058" y="1928703"/>
            <a:ext cx="8159496" cy="1650000"/>
          </a:xfrm>
        </p:spPr>
        <p:txBody>
          <a:bodyPr>
            <a:normAutofit/>
          </a:bodyPr>
          <a:lstStyle/>
          <a:p>
            <a:pPr marL="12700">
              <a:spcBef>
                <a:spcPts val="100"/>
              </a:spcBef>
            </a:pPr>
            <a:r>
              <a:rPr lang="en-US" sz="2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 Marketplace for Wholesale Buyers to Promote Inclusive Economic Growth and Digital Innovation</a:t>
            </a:r>
            <a:endParaRPr 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36180" y="5126354"/>
            <a:ext cx="4343400" cy="1731646"/>
          </a:xfrm>
        </p:spPr>
        <p:txBody>
          <a:bodyPr>
            <a:noAutofit/>
          </a:bodyPr>
          <a:lstStyle/>
          <a:p>
            <a:r>
              <a:rPr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  <a:endParaRPr lang="en-US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 Karthik (192311320)</a:t>
            </a: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Manoj Reddy (192311171)</a:t>
            </a: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 Pavan Kalyan (192312178)</a:t>
            </a: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1.png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1334278" y="339214"/>
            <a:ext cx="9601200" cy="8551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406909" y="3703320"/>
            <a:ext cx="8528801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ITA0326  |  Course Name: Mobile Computing</a:t>
            </a:r>
            <a:endParaRPr lang="en-US" altLang="en-US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40967" y="4354084"/>
            <a:ext cx="8159496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Bodoni MT" panose="02070603080606020203" pitchFamily="18" charset="0"/>
              </a:rPr>
              <a:t>Supervised By: K Premkumar</a:t>
            </a:r>
            <a:endParaRPr lang="en-IN" sz="2000" dirty="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109728"/>
            <a:ext cx="9509760" cy="914400"/>
          </a:xfrm>
        </p:spPr>
        <p:txBody>
          <a:bodyPr wrap="square" anchor="ctr"/>
          <a:lstStyle/>
          <a:p>
            <a:pPr algn="ctr"/>
            <a:r>
              <a:rPr sz="2800">
                <a:solidFill>
                  <a:srgbClr val="002060"/>
                </a:solidFill>
                <a:latin typeface="Algerian" panose="04020705040A02060702"/>
              </a:rPr>
              <a:t>Introduction and Background</a:t>
            </a:r>
            <a:endParaRPr sz="2800">
              <a:solidFill>
                <a:srgbClr val="002060"/>
              </a:solidFill>
              <a:latin typeface="Algerian" panose="04020705040A02060702"/>
            </a:endParaRP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680" y="0"/>
            <a:ext cx="955040" cy="1096268"/>
          </a:xfrm>
          <a:prstGeom prst="rect">
            <a:avLst/>
          </a:prstGeom>
        </p:spPr>
      </p:pic>
      <p:pic>
        <p:nvPicPr>
          <p:cNvPr id="4" name="Picture 3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3279" y="6450"/>
            <a:ext cx="1031065" cy="9757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32588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100"/>
              </a:spcAft>
              <a:buFont typeface="Wingdings" panose="05000000000000000000" pitchFamily="2" charset="2"/>
              <a:buChar char="Ø"/>
            </a:pPr>
            <a:r>
              <a:rPr sz="1900" b="0">
                <a:solidFill>
                  <a:srgbClr val="000000"/>
                </a:solidFill>
                <a:latin typeface="Times New Roman" panose="02020603050405020304"/>
              </a:rPr>
              <a:t>Wholesale trade is the backbone of retail supply: small retailers, kirana stores and MSMEs buy goods in bulk from distributors and manufacturers.</a:t>
            </a:r>
            <a:endParaRPr sz="1900" b="0">
              <a:solidFill>
                <a:srgbClr val="000000"/>
              </a:solidFill>
              <a:latin typeface="Times New Roman" panose="02020603050405020304"/>
            </a:endParaRPr>
          </a:p>
          <a:p>
            <a:pPr marL="274320" indent="-274320">
              <a:spcAft>
                <a:spcPts val="1100"/>
              </a:spcAft>
              <a:buFont typeface="Wingdings" panose="05000000000000000000" pitchFamily="2" charset="2"/>
              <a:buChar char="Ø"/>
            </a:pPr>
            <a:r>
              <a:rPr sz="1900" b="0">
                <a:solidFill>
                  <a:srgbClr val="000000"/>
                </a:solidFill>
                <a:latin typeface="Times New Roman" panose="02020603050405020304"/>
              </a:rPr>
              <a:t>Most bulk deals still run on phone calls, chat groups and middlemen, so prices are opaque and agreements are not recorded.</a:t>
            </a:r>
            <a:endParaRPr sz="1900" b="0">
              <a:solidFill>
                <a:srgbClr val="000000"/>
              </a:solidFill>
              <a:latin typeface="Times New Roman" panose="02020603050405020304"/>
            </a:endParaRPr>
          </a:p>
          <a:p>
            <a:pPr marL="274320" indent="-274320">
              <a:spcAft>
                <a:spcPts val="1100"/>
              </a:spcAft>
              <a:buFont typeface="Wingdings" panose="05000000000000000000" pitchFamily="2" charset="2"/>
              <a:buChar char="Ø"/>
            </a:pPr>
            <a:r>
              <a:rPr sz="1900" b="0">
                <a:solidFill>
                  <a:srgbClr val="000000"/>
                </a:solidFill>
                <a:latin typeface="Times New Roman" panose="02020603050405020304"/>
              </a:rPr>
              <a:t>Smartphones are now the main internet device for small businesses, making mobile-first commerce the natural fit.</a:t>
            </a:r>
            <a:endParaRPr sz="1900" b="0">
              <a:solidFill>
                <a:srgbClr val="000000"/>
              </a:solidFill>
              <a:latin typeface="Times New Roman" panose="02020603050405020304"/>
            </a:endParaRPr>
          </a:p>
          <a:p>
            <a:pPr marL="274320" indent="-274320">
              <a:spcAft>
                <a:spcPts val="1100"/>
              </a:spcAft>
              <a:buFont typeface="Wingdings" panose="05000000000000000000" pitchFamily="2" charset="2"/>
              <a:buChar char="Ø"/>
            </a:pPr>
            <a:r>
              <a:rPr sz="1900" b="0">
                <a:solidFill>
                  <a:srgbClr val="000000"/>
                </a:solidFill>
                <a:latin typeface="Times New Roman" panose="02020603050405020304"/>
              </a:rPr>
              <a:t>This project builds one cross-platform (Android and iOS) wholesale marketplace app from a single codebase.</a:t>
            </a:r>
            <a:endParaRPr sz="1900" b="0">
              <a:solidFill>
                <a:srgbClr val="000000"/>
              </a:solidFill>
              <a:latin typeface="Times New Roman" panose="02020603050405020304"/>
            </a:endParaRPr>
          </a:p>
          <a:p>
            <a:pPr marL="274320" indent="-274320">
              <a:spcAft>
                <a:spcPts val="1100"/>
              </a:spcAft>
              <a:buFont typeface="Wingdings" panose="05000000000000000000" pitchFamily="2" charset="2"/>
              <a:buChar char="Ø"/>
            </a:pPr>
            <a:r>
              <a:rPr sz="1900" b="0">
                <a:solidFill>
                  <a:srgbClr val="000000"/>
                </a:solidFill>
                <a:latin typeface="Times New Roman" panose="02020603050405020304"/>
              </a:rPr>
              <a:t>Three focus modules: price negotiation, camera-based product listings and group buying.</a:t>
            </a:r>
            <a:endParaRPr sz="1900" b="0">
              <a:solidFill>
                <a:srgbClr val="000000"/>
              </a:solidFill>
              <a:latin typeface="Times New Roman" panose="02020603050405020304"/>
            </a:endParaRPr>
          </a:p>
        </p:txBody>
      </p:sp>
      <p:pic>
        <p:nvPicPr>
          <p:cNvPr id="6" name="Picture 5" descr="c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1737360"/>
            <a:ext cx="4480560" cy="353045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79" y="521208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0">
                <a:solidFill>
                  <a:srgbClr val="595959"/>
                </a:solidFill>
                <a:latin typeface="Times New Roman" panose="02020603050405020304"/>
              </a:rPr>
              <a:t>Illustrative app home screen</a:t>
            </a:r>
            <a:endParaRPr sz="1400" b="0">
              <a:solidFill>
                <a:srgbClr val="595959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109728"/>
            <a:ext cx="9509760" cy="914400"/>
          </a:xfrm>
        </p:spPr>
        <p:txBody>
          <a:bodyPr wrap="square" anchor="ctr"/>
          <a:lstStyle/>
          <a:p>
            <a:pPr algn="ctr"/>
            <a:r>
              <a:rPr sz="2800">
                <a:solidFill>
                  <a:srgbClr val="002060"/>
                </a:solidFill>
                <a:latin typeface="Algerian" panose="04020705040A02060702"/>
              </a:rPr>
              <a:t>Problem Statement</a:t>
            </a:r>
            <a:endParaRPr sz="2800">
              <a:solidFill>
                <a:srgbClr val="002060"/>
              </a:solidFill>
              <a:latin typeface="Algerian" panose="04020705040A02060702"/>
            </a:endParaRP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680" y="0"/>
            <a:ext cx="955040" cy="1096268"/>
          </a:xfrm>
          <a:prstGeom prst="rect">
            <a:avLst/>
          </a:prstGeom>
        </p:spPr>
      </p:pic>
      <p:pic>
        <p:nvPicPr>
          <p:cNvPr id="4" name="Picture 3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3279" y="6450"/>
            <a:ext cx="1031065" cy="97571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280160"/>
            <a:ext cx="11064240" cy="1600200"/>
          </a:xfrm>
          <a:prstGeom prst="roundRect">
            <a:avLst>
              <a:gd name="adj" fmla="val 6000"/>
            </a:avLst>
          </a:prstGeom>
          <a:solidFill>
            <a:srgbClr val="DEEAF6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000000"/>
                </a:solidFill>
                <a:latin typeface="Times New Roman" panose="02020603050405020304"/>
              </a:rPr>
              <a:t>Small and mid-sized wholesale buyers lack a mobile platform </a:t>
            </a:r>
            <a:r>
              <a:rPr sz="1800" b="0">
                <a:solidFill>
                  <a:srgbClr val="000000"/>
                </a:solidFill>
                <a:latin typeface="Times New Roman" panose="02020603050405020304"/>
              </a:rPr>
              <a:t>where they can negotiate bulk prices transparently, inspect products visually before ordering, and combine small orders to reach supplier minimum order quantities (MOQs). </a:t>
            </a:r>
            <a:r>
              <a:rPr sz="1800" b="1">
                <a:solidFill>
                  <a:srgbClr val="002060"/>
                </a:solidFill>
                <a:latin typeface="Times New Roman" panose="02020603050405020304"/>
              </a:rPr>
              <a:t>As a result they pay more, risk receiving goods that differ from expectations, and miss out on wholesale discounts.</a:t>
            </a:r>
            <a:endParaRPr sz="1800" b="1">
              <a:solidFill>
                <a:srgbClr val="002060"/>
              </a:solidFill>
              <a:latin typeface="Times New Roman" panose="020206030504050203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3154680"/>
            <a:ext cx="347472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8CC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3337560"/>
            <a:ext cx="548640" cy="54864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Times New Roman" panose="02020603050405020304"/>
              </a:rPr>
              <a:t>1</a:t>
            </a:r>
            <a:endParaRPr sz="18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63040" y="3310128"/>
            <a:ext cx="2468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002060"/>
                </a:solidFill>
                <a:latin typeface="Times New Roman" panose="02020603050405020304"/>
              </a:rPr>
              <a:t>No transparent bulk pricing</a:t>
            </a:r>
            <a:endParaRPr sz="1900" b="1">
              <a:solidFill>
                <a:srgbClr val="002060"/>
              </a:solidFill>
              <a:latin typeface="Times New Roman" panose="020206030504050203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411480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Times New Roman" panose="02020603050405020304"/>
              </a:rPr>
              <a:t>Rates are fixed or settled over calls and chats. Buyers cannot easily counter-offer or track what was agreed.</a:t>
            </a:r>
            <a:endParaRPr sz="1700" b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57607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0070C0"/>
                </a:solidFill>
                <a:latin typeface="Times New Roman" panose="02020603050405020304"/>
              </a:rPr>
              <a:t>Addressed by Module 1</a:t>
            </a:r>
            <a:endParaRPr sz="1500" b="1">
              <a:solidFill>
                <a:srgbClr val="0070C0"/>
              </a:solidFill>
              <a:latin typeface="Times New Roman" panose="020206030504050203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343400" y="3154680"/>
            <a:ext cx="347472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8CC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72000" y="3337560"/>
            <a:ext cx="548640" cy="54864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Times New Roman" panose="02020603050405020304"/>
              </a:rPr>
              <a:t>2</a:t>
            </a:r>
            <a:endParaRPr sz="18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57800" y="3310128"/>
            <a:ext cx="2468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002060"/>
                </a:solidFill>
                <a:latin typeface="Times New Roman" panose="02020603050405020304"/>
              </a:rPr>
              <a:t>Products cannot be inspected</a:t>
            </a:r>
            <a:endParaRPr sz="1900" b="1">
              <a:solidFill>
                <a:srgbClr val="002060"/>
              </a:solidFill>
              <a:latin typeface="Times New Roman" panose="020206030504050203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0" y="411480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Times New Roman" panose="02020603050405020304"/>
              </a:rPr>
              <a:t>Listings carry weak or no photos, so buyers risk receiving goods that differ from what they expected.</a:t>
            </a:r>
            <a:endParaRPr sz="1700" b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0" y="57607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ED7D31"/>
                </a:solidFill>
                <a:latin typeface="Times New Roman" panose="02020603050405020304"/>
              </a:rPr>
              <a:t>Addressed by Module 2</a:t>
            </a:r>
            <a:endParaRPr sz="1500" b="1">
              <a:solidFill>
                <a:srgbClr val="ED7D31"/>
              </a:solidFill>
              <a:latin typeface="Times New Roman" panose="020206030504050203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138160" y="3154680"/>
            <a:ext cx="3474720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8CC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66760" y="3337560"/>
            <a:ext cx="548640" cy="548640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Times New Roman" panose="02020603050405020304"/>
              </a:rPr>
              <a:t>3</a:t>
            </a:r>
            <a:endParaRPr sz="18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052560" y="3310128"/>
            <a:ext cx="24688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002060"/>
                </a:solidFill>
                <a:latin typeface="Times New Roman" panose="02020603050405020304"/>
              </a:rPr>
              <a:t>Minimum order barrier</a:t>
            </a:r>
            <a:endParaRPr sz="1900" b="1">
              <a:solidFill>
                <a:srgbClr val="002060"/>
              </a:solidFill>
              <a:latin typeface="Times New Roman" panose="020206030504050203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66760" y="4114800"/>
            <a:ext cx="3017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Times New Roman" panose="02020603050405020304"/>
              </a:rPr>
              <a:t>Small buyers cannot meet MOQs alone, so they miss the discounts that large buyers receive.</a:t>
            </a:r>
            <a:endParaRPr sz="1700" b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366760" y="57607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1">
                <a:solidFill>
                  <a:srgbClr val="2E9E5B"/>
                </a:solidFill>
                <a:latin typeface="Times New Roman" panose="02020603050405020304"/>
              </a:rPr>
              <a:t>Addressed by Module 3</a:t>
            </a:r>
            <a:endParaRPr sz="1500" b="1">
              <a:solidFill>
                <a:srgbClr val="2E9E5B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109728"/>
            <a:ext cx="9509760" cy="914400"/>
          </a:xfrm>
        </p:spPr>
        <p:txBody>
          <a:bodyPr wrap="square" anchor="ctr"/>
          <a:lstStyle/>
          <a:p>
            <a:pPr algn="ctr"/>
            <a:r>
              <a:rPr sz="2800">
                <a:solidFill>
                  <a:srgbClr val="002060"/>
                </a:solidFill>
                <a:latin typeface="Algerian" panose="04020705040A02060702"/>
              </a:rPr>
              <a:t>Motivation and Need for the Project</a:t>
            </a:r>
            <a:endParaRPr sz="2800">
              <a:solidFill>
                <a:srgbClr val="002060"/>
              </a:solidFill>
              <a:latin typeface="Algerian" panose="04020705040A02060702"/>
            </a:endParaRP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680" y="0"/>
            <a:ext cx="955040" cy="1096268"/>
          </a:xfrm>
          <a:prstGeom prst="rect">
            <a:avLst/>
          </a:prstGeom>
        </p:spPr>
      </p:pic>
      <p:pic>
        <p:nvPicPr>
          <p:cNvPr id="4" name="Picture 3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3279" y="6450"/>
            <a:ext cx="1031065" cy="97571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325880"/>
            <a:ext cx="5440680" cy="2286000"/>
          </a:xfrm>
          <a:prstGeom prst="roundRect">
            <a:avLst>
              <a:gd name="adj" fmla="val 5000"/>
            </a:avLst>
          </a:prstGeom>
          <a:solidFill>
            <a:srgbClr val="F3F7FC"/>
          </a:solidFill>
          <a:ln w="15875">
            <a:solidFill>
              <a:srgbClr val="B8CC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1554480"/>
            <a:ext cx="594360" cy="59436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Times New Roman" panose="02020603050405020304"/>
              </a:rPr>
              <a:t>1</a:t>
            </a:r>
            <a:endParaRPr sz="20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554480" y="1508760"/>
            <a:ext cx="4297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100" b="1">
                <a:solidFill>
                  <a:srgbClr val="002060"/>
                </a:solidFill>
                <a:latin typeface="Times New Roman" panose="02020603050405020304"/>
              </a:rPr>
              <a:t>Inclusive economic growth</a:t>
            </a:r>
            <a:endParaRPr sz="2100" b="1">
              <a:solidFill>
                <a:srgbClr val="002060"/>
              </a:solidFill>
              <a:latin typeface="Times New Roman" panose="020206030504050203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59" y="22860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Times New Roman" panose="02020603050405020304"/>
              </a:rPr>
              <a:t>Gives small retailers and MSMEs access to wholesale prices and suppliers on a par with large buyers (aligned with UN SDG 8 and 9).</a:t>
            </a:r>
            <a:endParaRPr sz="1700" b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5440680" cy="2286000"/>
          </a:xfrm>
          <a:prstGeom prst="roundRect">
            <a:avLst>
              <a:gd name="adj" fmla="val 5000"/>
            </a:avLst>
          </a:prstGeom>
          <a:solidFill>
            <a:srgbClr val="F3F7FC"/>
          </a:solidFill>
          <a:ln w="15875">
            <a:solidFill>
              <a:srgbClr val="B8CC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0" y="1554480"/>
            <a:ext cx="594360" cy="59436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Times New Roman" panose="02020603050405020304"/>
              </a:rPr>
              <a:t>2</a:t>
            </a:r>
            <a:endParaRPr sz="20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78040" y="1508760"/>
            <a:ext cx="4297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100" b="1">
                <a:solidFill>
                  <a:srgbClr val="002060"/>
                </a:solidFill>
                <a:latin typeface="Times New Roman" panose="02020603050405020304"/>
              </a:rPr>
              <a:t>Mobile-first reality</a:t>
            </a:r>
            <a:endParaRPr sz="2100" b="1">
              <a:solidFill>
                <a:srgbClr val="002060"/>
              </a:solidFill>
              <a:latin typeface="Times New Roman" panose="020206030504050203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46520" y="22860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Times New Roman" panose="02020603050405020304"/>
              </a:rPr>
              <a:t>Smartphones are how small traders get online. One cross-platform app reaches Android and iOS users without two separate builds.</a:t>
            </a:r>
            <a:endParaRPr sz="1700" b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8640" y="3840480"/>
            <a:ext cx="5440680" cy="2286000"/>
          </a:xfrm>
          <a:prstGeom prst="roundRect">
            <a:avLst>
              <a:gd name="adj" fmla="val 5000"/>
            </a:avLst>
          </a:prstGeom>
          <a:solidFill>
            <a:srgbClr val="F3F7FC"/>
          </a:solidFill>
          <a:ln w="15875">
            <a:solidFill>
              <a:srgbClr val="B8CC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77240" y="4069080"/>
            <a:ext cx="594360" cy="594360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Times New Roman" panose="02020603050405020304"/>
              </a:rPr>
              <a:t>3</a:t>
            </a:r>
            <a:endParaRPr sz="20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554480" y="4023360"/>
            <a:ext cx="4297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100" b="1">
                <a:solidFill>
                  <a:srgbClr val="002060"/>
                </a:solidFill>
                <a:latin typeface="Times New Roman" panose="02020603050405020304"/>
              </a:rPr>
              <a:t>Fewer middlemen, fairer prices</a:t>
            </a:r>
            <a:endParaRPr sz="2100" b="1">
              <a:solidFill>
                <a:srgbClr val="002060"/>
              </a:solidFill>
              <a:latin typeface="Times New Roman" panose="020206030504050203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59" y="48006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Times New Roman" panose="02020603050405020304"/>
              </a:rPr>
              <a:t>Direct buyer-seller negotiation and pooled orders cut layers of margin and make prices transparent.</a:t>
            </a:r>
            <a:endParaRPr sz="1700" b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172200" y="3840480"/>
            <a:ext cx="5440680" cy="2286000"/>
          </a:xfrm>
          <a:prstGeom prst="roundRect">
            <a:avLst>
              <a:gd name="adj" fmla="val 5000"/>
            </a:avLst>
          </a:prstGeom>
          <a:solidFill>
            <a:srgbClr val="F3F7FC"/>
          </a:solidFill>
          <a:ln w="15875">
            <a:solidFill>
              <a:srgbClr val="B8CC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00800" y="4069080"/>
            <a:ext cx="594360" cy="59436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Times New Roman" panose="02020603050405020304"/>
              </a:rPr>
              <a:t>4</a:t>
            </a:r>
            <a:endParaRPr sz="20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178040" y="4023360"/>
            <a:ext cx="429768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100" b="1">
                <a:solidFill>
                  <a:srgbClr val="002060"/>
                </a:solidFill>
                <a:latin typeface="Times New Roman" panose="02020603050405020304"/>
              </a:rPr>
              <a:t>Digital innovation in everyday trade</a:t>
            </a:r>
            <a:endParaRPr sz="2100" b="1">
              <a:solidFill>
                <a:srgbClr val="002060"/>
              </a:solidFill>
              <a:latin typeface="Times New Roman" panose="020206030504050203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46520" y="4800600"/>
            <a:ext cx="4937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000000"/>
                </a:solidFill>
                <a:latin typeface="Times New Roman" panose="02020603050405020304"/>
              </a:rPr>
              <a:t>Brings camera-based listings, structured negotiation and demand pooling into routine wholesale buying.</a:t>
            </a:r>
            <a:endParaRPr sz="1700" b="0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109728"/>
            <a:ext cx="9509760" cy="914400"/>
          </a:xfrm>
        </p:spPr>
        <p:txBody>
          <a:bodyPr wrap="square" anchor="ctr"/>
          <a:lstStyle/>
          <a:p>
            <a:pPr algn="ctr"/>
            <a:r>
              <a:rPr sz="2800">
                <a:solidFill>
                  <a:srgbClr val="002060"/>
                </a:solidFill>
                <a:latin typeface="Algerian" panose="04020705040A02060702"/>
              </a:rPr>
              <a:t>Objectives</a:t>
            </a:r>
            <a:endParaRPr sz="2800">
              <a:solidFill>
                <a:srgbClr val="002060"/>
              </a:solidFill>
              <a:latin typeface="Algerian" panose="04020705040A02060702"/>
            </a:endParaRP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680" y="0"/>
            <a:ext cx="955040" cy="1096268"/>
          </a:xfrm>
          <a:prstGeom prst="rect">
            <a:avLst/>
          </a:prstGeom>
        </p:spPr>
      </p:pic>
      <p:pic>
        <p:nvPicPr>
          <p:cNvPr id="4" name="Picture 3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3279" y="6450"/>
            <a:ext cx="1031065" cy="97571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280160"/>
            <a:ext cx="11064240" cy="713232"/>
          </a:xfrm>
          <a:prstGeom prst="roundRect">
            <a:avLst>
              <a:gd name="adj" fmla="val 15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371600"/>
            <a:ext cx="530352" cy="53035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Times New Roman" panose="02020603050405020304"/>
              </a:rPr>
              <a:t>1</a:t>
            </a:r>
            <a:endParaRPr sz="18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17320" y="1280160"/>
            <a:ext cx="10058400" cy="7132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 panose="02020603050405020304"/>
              </a:rPr>
              <a:t>To build a single-codebase, cross-platform mobile marketplace (Android and iOS) for wholesale buyers and sellers.</a:t>
            </a:r>
            <a:endParaRPr sz="1800" b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11064240" cy="713232"/>
          </a:xfrm>
          <a:prstGeom prst="roundRect">
            <a:avLst>
              <a:gd name="adj" fmla="val 15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85800" y="2194560"/>
            <a:ext cx="530352" cy="53035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Times New Roman" panose="02020603050405020304"/>
              </a:rPr>
              <a:t>2</a:t>
            </a:r>
            <a:endParaRPr sz="18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17320" y="2103120"/>
            <a:ext cx="10058400" cy="7132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 panose="02020603050405020304"/>
              </a:rPr>
              <a:t>To enable bulk price negotiation through offers, counteroffers and a recorded offer history (Module 1).</a:t>
            </a:r>
            <a:endParaRPr sz="1800" b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48640" y="2926080"/>
            <a:ext cx="11064240" cy="713232"/>
          </a:xfrm>
          <a:prstGeom prst="roundRect">
            <a:avLst>
              <a:gd name="adj" fmla="val 15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3017520"/>
            <a:ext cx="530352" cy="530352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Times New Roman" panose="02020603050405020304"/>
              </a:rPr>
              <a:t>3</a:t>
            </a:r>
            <a:endParaRPr sz="18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17320" y="2926080"/>
            <a:ext cx="10058400" cy="7132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 panose="02020603050405020304"/>
              </a:rPr>
              <a:t>To let sellers create visual listings by capturing photos with the camera or uploading from the gallery (Module 2).</a:t>
            </a:r>
            <a:endParaRPr sz="1800" b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48640" y="3749039"/>
            <a:ext cx="11064240" cy="713232"/>
          </a:xfrm>
          <a:prstGeom prst="roundRect">
            <a:avLst>
              <a:gd name="adj" fmla="val 15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85800" y="3840479"/>
            <a:ext cx="530352" cy="530352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Times New Roman" panose="02020603050405020304"/>
              </a:rPr>
              <a:t>4</a:t>
            </a:r>
            <a:endParaRPr sz="18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417320" y="3749039"/>
            <a:ext cx="10058400" cy="7132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 panose="02020603050405020304"/>
              </a:rPr>
              <a:t>To pool requests from multiple buyers so minimum order quantities are met and wholesale discounts unlocked (Module 3).</a:t>
            </a:r>
            <a:endParaRPr sz="1800" b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48640" y="4572000"/>
            <a:ext cx="11064240" cy="713232"/>
          </a:xfrm>
          <a:prstGeom prst="roundRect">
            <a:avLst>
              <a:gd name="adj" fmla="val 15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5800" y="4663440"/>
            <a:ext cx="530352" cy="530352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Times New Roman" panose="02020603050405020304"/>
              </a:rPr>
              <a:t>5</a:t>
            </a:r>
            <a:endParaRPr sz="18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417320" y="4572000"/>
            <a:ext cx="10058400" cy="7132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 panose="02020603050405020304"/>
              </a:rPr>
              <a:t>To promote inclusive economic growth by opening wholesale access to small and medium buyers.</a:t>
            </a:r>
            <a:endParaRPr sz="1800" b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48640" y="5394960"/>
            <a:ext cx="11064240" cy="713232"/>
          </a:xfrm>
          <a:prstGeom prst="roundRect">
            <a:avLst>
              <a:gd name="adj" fmla="val 15000"/>
            </a:avLst>
          </a:prstGeom>
          <a:solidFill>
            <a:srgbClr val="F3F7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85800" y="5486400"/>
            <a:ext cx="530352" cy="530352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Times New Roman" panose="02020603050405020304"/>
              </a:rPr>
              <a:t>6</a:t>
            </a:r>
            <a:endParaRPr sz="18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417320" y="5394960"/>
            <a:ext cx="10058400" cy="713232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>
              <a:spcAft>
                <a:spcPts val="600"/>
              </a:spcAft>
            </a:pPr>
            <a:r>
              <a:rPr sz="1800" b="0">
                <a:solidFill>
                  <a:srgbClr val="000000"/>
                </a:solidFill>
                <a:latin typeface="Times New Roman" panose="02020603050405020304"/>
              </a:rPr>
              <a:t>To evaluate usability and performance (startup time, response time, task completion) on both platforms.</a:t>
            </a:r>
            <a:endParaRPr sz="1800" b="0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45720"/>
            <a:ext cx="9509760" cy="822960"/>
          </a:xfrm>
        </p:spPr>
        <p:txBody>
          <a:bodyPr wrap="square" anchor="ctr"/>
          <a:lstStyle/>
          <a:p>
            <a:pPr algn="ctr"/>
            <a:r>
              <a:rPr sz="2800">
                <a:solidFill>
                  <a:srgbClr val="002060"/>
                </a:solidFill>
                <a:latin typeface="Algerian" panose="04020705040A02060702"/>
              </a:rPr>
              <a:t>Literature Survey</a:t>
            </a:r>
            <a:endParaRPr sz="2800">
              <a:solidFill>
                <a:srgbClr val="002060"/>
              </a:solidFill>
              <a:latin typeface="Algerian" panose="04020705040A02060702"/>
            </a:endParaRP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680" y="0"/>
            <a:ext cx="955040" cy="1096268"/>
          </a:xfrm>
          <a:prstGeom prst="rect">
            <a:avLst/>
          </a:prstGeom>
        </p:spPr>
      </p:pic>
      <p:pic>
        <p:nvPicPr>
          <p:cNvPr id="4" name="Picture 3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3279" y="6450"/>
            <a:ext cx="1031065" cy="97571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896112"/>
          <a:ext cx="11795760" cy="54864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57200"/>
                <a:gridCol w="548640"/>
                <a:gridCol w="1783080"/>
                <a:gridCol w="1828800"/>
                <a:gridCol w="3657600"/>
                <a:gridCol w="3520440"/>
              </a:tblGrid>
              <a:tr h="36576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S.No</a:t>
                      </a:r>
                      <a:endParaRPr sz="1400" b="1">
                        <a:solidFill>
                          <a:srgbClr val="FFFFFF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Year</a:t>
                      </a:r>
                      <a:endParaRPr sz="1400" b="1">
                        <a:solidFill>
                          <a:srgbClr val="FFFFFF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Author(s)</a:t>
                      </a:r>
                      <a:endParaRPr sz="1400" b="1">
                        <a:solidFill>
                          <a:srgbClr val="FFFFFF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Venue</a:t>
                      </a:r>
                      <a:endParaRPr sz="1400" b="1">
                        <a:solidFill>
                          <a:srgbClr val="FFFFFF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Technique / Key Finding</a:t>
                      </a:r>
                      <a:endParaRPr sz="1400" b="1">
                        <a:solidFill>
                          <a:srgbClr val="FFFFFF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Limitation / Gap (Module)</a:t>
                      </a:r>
                      <a:endParaRPr sz="1400" b="1">
                        <a:solidFill>
                          <a:srgbClr val="FFFFFF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2E75B6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1</a:t>
                      </a:r>
                      <a:endParaRPr sz="12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2017</a:t>
                      </a:r>
                      <a:endParaRPr sz="12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Gallo, Randazzo, Gallo</a:t>
                      </a:r>
                      <a:endParaRPr sz="12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arXiv:1711.02661</a:t>
                      </a:r>
                      <a:endParaRPr sz="12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e-Fair: aggregates buyers and sellers; optimises purchase and shipment (assignment and transshipment) with a Markov chain for arrivals</a:t>
                      </a:r>
                      <a:endParaRPr sz="12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Evaluated by MATLAB simulation; no mobile app or negotiation (Module 3)</a:t>
                      </a:r>
                      <a:endParaRPr sz="12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DEEAF6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2</a:t>
                      </a:r>
                      <a:endParaRPr sz="12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2018</a:t>
                      </a:r>
                      <a:endParaRPr sz="12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Ma, Mezghani, Wilber et al.</a:t>
                      </a:r>
                      <a:endParaRPr sz="12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arXiv:1811.10648</a:t>
                      </a:r>
                      <a:endParaRPr sz="12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Inception v3 CNN (~87%) on ~75k listing images; good photos raise trust and odds of sale</a:t>
                      </a:r>
                      <a:endParaRPr sz="12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Consumer second-hand goods, not wholesale (Module 2)</a:t>
                      </a:r>
                      <a:endParaRPr sz="12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3</a:t>
                      </a:r>
                      <a:endParaRPr sz="12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2021</a:t>
                      </a:r>
                      <a:endParaRPr sz="12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Bagga, Paoletti, Alrayes, Stathis</a:t>
                      </a:r>
                      <a:endParaRPr sz="12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Autonomous Agents and Multi-Agent Systems, 35:27</a:t>
                      </a:r>
                      <a:endParaRPr sz="12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ANEGMA: actor-critic deep RL buyer agent for concurrent bilateral price negotiation</a:t>
                      </a:r>
                      <a:endParaRPr sz="12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Simulated e-markets; single-issue (price) only (Module 1)</a:t>
                      </a:r>
                      <a:endParaRPr sz="12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DEEAF6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4</a:t>
                      </a:r>
                      <a:endParaRPr sz="12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2024</a:t>
                      </a:r>
                      <a:endParaRPr sz="12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Wang, Shu, Liu, Xie, Wang</a:t>
                      </a:r>
                      <a:endParaRPr sz="12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J. Retailing and Consumer Services, 81</a:t>
                      </a:r>
                      <a:endParaRPr sz="12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Experiments: initiator's account name affects willingness to join an online group purchase, via trust</a:t>
                      </a:r>
                      <a:endParaRPr sz="12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Consumer social commerce; B2B pooling not studied (Module 3)</a:t>
                      </a:r>
                      <a:endParaRPr sz="12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5</a:t>
                      </a:r>
                      <a:endParaRPr sz="12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2024</a:t>
                      </a:r>
                      <a:endParaRPr sz="12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Chatterjee, Miller, Parepally</a:t>
                      </a:r>
                      <a:endParaRPr sz="12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arXiv:2412.18690</a:t>
                      </a:r>
                      <a:endParaRPr sz="12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AgreeMate: LoRA fine-tuned LLaMA-3.2-3B buyer and seller agents, tested on Craigslist Bargaining</a:t>
                      </a:r>
                      <a:endParaRPr sz="12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Course project; 30 test scenarios; small models repeat themselves (Module 1)</a:t>
                      </a:r>
                      <a:endParaRPr sz="12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DEEAF6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6</a:t>
                      </a:r>
                      <a:endParaRPr sz="12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2024</a:t>
                      </a:r>
                      <a:endParaRPr sz="12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Tiwari et al.</a:t>
                      </a:r>
                      <a:endParaRPr sz="12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Int. J. of Research, 11(3)</a:t>
                      </a:r>
                      <a:endParaRPr sz="12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ONDC could make Indian e-commerce more inclusive for SMEs and consumers</a:t>
                      </a:r>
                      <a:endParaRPr sz="12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Conceptual review; no negotiation or pooling features (Inclusion)</a:t>
                      </a:r>
                      <a:endParaRPr sz="12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7</a:t>
                      </a:r>
                      <a:endParaRPr sz="12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2025</a:t>
                      </a:r>
                      <a:endParaRPr sz="12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George, Kirubanand, Sandeep</a:t>
                      </a:r>
                      <a:endParaRPr sz="12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IEEE ICCIST 2025</a:t>
                      </a:r>
                      <a:endParaRPr sz="12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Native vs Flutter vs React Native: startup 1.5 s / 2.4 s / 3.0 s; Flutter faster to develop</a:t>
                      </a:r>
                      <a:endParaRPr sz="12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One expense-tracker app on one Android phone (Technology)</a:t>
                      </a:r>
                      <a:endParaRPr sz="12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DEEAF6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8</a:t>
                      </a:r>
                      <a:endParaRPr sz="12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2026</a:t>
                      </a:r>
                      <a:endParaRPr sz="12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Liu, Chen, Xiao et al.</a:t>
                      </a:r>
                      <a:endParaRPr sz="12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arXiv:2604.09855</a:t>
                      </a:r>
                      <a:endParaRPr sz="12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GRPO reinforcement learning trains an LLM buyer on real Amazon listings; beats larger models</a:t>
                      </a:r>
                      <a:endParaRPr sz="12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Single seller model, 6-turn cap, two-party only (Module 1)</a:t>
                      </a:r>
                      <a:endParaRPr sz="12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109728"/>
            <a:ext cx="9509760" cy="914400"/>
          </a:xfrm>
        </p:spPr>
        <p:txBody>
          <a:bodyPr wrap="square" anchor="ctr"/>
          <a:lstStyle/>
          <a:p>
            <a:pPr algn="ctr"/>
            <a:r>
              <a:rPr sz="2800">
                <a:solidFill>
                  <a:srgbClr val="002060"/>
                </a:solidFill>
                <a:latin typeface="Algerian" panose="04020705040A02060702"/>
              </a:rPr>
              <a:t>Existing System and its Limitations</a:t>
            </a:r>
            <a:endParaRPr sz="2800">
              <a:solidFill>
                <a:srgbClr val="002060"/>
              </a:solidFill>
              <a:latin typeface="Algerian" panose="04020705040A02060702"/>
            </a:endParaRP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680" y="0"/>
            <a:ext cx="955040" cy="1096268"/>
          </a:xfrm>
          <a:prstGeom prst="rect">
            <a:avLst/>
          </a:prstGeom>
        </p:spPr>
      </p:pic>
      <p:pic>
        <p:nvPicPr>
          <p:cNvPr id="4" name="Picture 3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3279" y="6450"/>
            <a:ext cx="1031065" cy="97571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25880"/>
          <a:ext cx="11064240" cy="3657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43200"/>
                <a:gridCol w="3840480"/>
                <a:gridCol w="448056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Approach</a:t>
                      </a:r>
                      <a:endParaRPr sz="1700" b="1">
                        <a:solidFill>
                          <a:srgbClr val="FFFFFF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How it works today</a:t>
                      </a:r>
                      <a:endParaRPr sz="1700" b="1">
                        <a:solidFill>
                          <a:srgbClr val="FFFFFF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700" b="1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Limitations</a:t>
                      </a:r>
                      <a:endParaRPr sz="1700" b="1">
                        <a:solidFill>
                          <a:srgbClr val="FFFFFF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2E75B6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002060"/>
                          </a:solidFill>
                          <a:latin typeface="Times New Roman" panose="02020603050405020304"/>
                        </a:rPr>
                        <a:t>Phone calls and chat groups</a:t>
                      </a:r>
                      <a:endParaRPr sz="1600" b="1">
                        <a:solidFill>
                          <a:srgbClr val="00206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Buyers and distributors agree rates and orders by call or message.</a:t>
                      </a:r>
                      <a:endParaRPr sz="16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No structured offer history; prices are opaque and hard to compare; manual order tracking.</a:t>
                      </a:r>
                      <a:endParaRPr sz="16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DEEAF6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002060"/>
                          </a:solidFill>
                          <a:latin typeface="Times New Roman" panose="02020603050405020304"/>
                        </a:rPr>
                        <a:t>Listing and directory portals</a:t>
                      </a:r>
                      <a:endParaRPr sz="1600" b="1">
                        <a:solidFill>
                          <a:srgbClr val="00206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Sellers publish catalogues; buyers send enquiries, then trade offline.</a:t>
                      </a:r>
                      <a:endParaRPr sz="16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Weak or text-only product images; enquiry-based pricing; no built-in negotiation or order flow.</a:t>
                      </a:r>
                      <a:endParaRPr sz="16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002060"/>
                          </a:solidFill>
                          <a:latin typeface="Times New Roman" panose="02020603050405020304"/>
                        </a:rPr>
                        <a:t>Fixed-price B2B apps</a:t>
                      </a:r>
                      <a:endParaRPr sz="1600" b="1">
                        <a:solidFill>
                          <a:srgbClr val="00206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Buyers order at listed prices, often with large minimum quantities.</a:t>
                      </a:r>
                      <a:endParaRPr sz="16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Small buyers often cannot meet MOQs; little room to bargain; discounts favour big orders.</a:t>
                      </a:r>
                      <a:endParaRPr sz="16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DEEAF6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5212080"/>
            <a:ext cx="11064240" cy="1097280"/>
          </a:xfrm>
          <a:prstGeom prst="roundRect">
            <a:avLst>
              <a:gd name="adj" fmla="val 8000"/>
            </a:avLst>
          </a:prstGeom>
          <a:solidFill>
            <a:srgbClr val="00206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FC000"/>
                </a:solidFill>
                <a:latin typeface="Times New Roman" panose="02020603050405020304"/>
              </a:rPr>
              <a:t>Research gap: </a:t>
            </a:r>
            <a:r>
              <a:rPr sz="1900" b="0">
                <a:solidFill>
                  <a:srgbClr val="FFFFFF"/>
                </a:solidFill>
                <a:latin typeface="Times New Roman" panose="02020603050405020304"/>
              </a:rPr>
              <a:t>no single mobile app combines structured price negotiation, camera-based visual listings and buyer demand pooling for small wholesale buyers.</a:t>
            </a:r>
            <a:endParaRPr sz="1900" b="0">
              <a:solidFill>
                <a:srgbClr val="FFFFFF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109728"/>
            <a:ext cx="9509760" cy="914400"/>
          </a:xfrm>
        </p:spPr>
        <p:txBody>
          <a:bodyPr wrap="square" anchor="ctr"/>
          <a:lstStyle/>
          <a:p>
            <a:pPr algn="ctr"/>
            <a:r>
              <a:rPr sz="2800">
                <a:solidFill>
                  <a:srgbClr val="002060"/>
                </a:solidFill>
                <a:latin typeface="Algerian" panose="04020705040A02060702"/>
              </a:rPr>
              <a:t>Proposed System and Novel Features</a:t>
            </a:r>
            <a:endParaRPr sz="2800">
              <a:solidFill>
                <a:srgbClr val="002060"/>
              </a:solidFill>
              <a:latin typeface="Algerian" panose="04020705040A02060702"/>
            </a:endParaRP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680" y="0"/>
            <a:ext cx="955040" cy="1096268"/>
          </a:xfrm>
          <a:prstGeom prst="rect">
            <a:avLst/>
          </a:prstGeom>
        </p:spPr>
      </p:pic>
      <p:pic>
        <p:nvPicPr>
          <p:cNvPr id="4" name="Picture 3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3279" y="6450"/>
            <a:ext cx="1031065" cy="97571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280160"/>
            <a:ext cx="3474720" cy="3337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0070C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417320"/>
            <a:ext cx="548640" cy="54864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Times New Roman" panose="02020603050405020304"/>
              </a:rPr>
              <a:t>1</a:t>
            </a:r>
            <a:endParaRPr sz="18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17319" y="1371600"/>
            <a:ext cx="2514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002060"/>
                </a:solidFill>
                <a:latin typeface="Times New Roman" panose="02020603050405020304"/>
              </a:rPr>
              <a:t>Smart Wholesale Price Negotiator</a:t>
            </a:r>
            <a:endParaRPr sz="1800" b="1">
              <a:solidFill>
                <a:srgbClr val="002060"/>
              </a:solidFill>
              <a:latin typeface="Times New Roman" panose="020206030504050203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sz="1700" b="0">
                <a:solidFill>
                  <a:srgbClr val="000000"/>
                </a:solidFill>
                <a:latin typeface="Times New Roman" panose="02020603050405020304"/>
              </a:rPr>
              <a:t>Buyer proposes price and quantity</a:t>
            </a:r>
            <a:endParaRPr sz="1700" b="0">
              <a:solidFill>
                <a:srgbClr val="000000"/>
              </a:solidFill>
              <a:latin typeface="Times New Roman" panose="02020603050405020304"/>
            </a:endParaRPr>
          </a:p>
          <a:p>
            <a:pPr marL="274320" indent="-274320"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sz="1700" b="0">
                <a:solidFill>
                  <a:srgbClr val="000000"/>
                </a:solidFill>
                <a:latin typeface="Times New Roman" panose="02020603050405020304"/>
              </a:rPr>
              <a:t>Seller accepts, rejects or counters</a:t>
            </a:r>
            <a:endParaRPr sz="1700" b="0">
              <a:solidFill>
                <a:srgbClr val="000000"/>
              </a:solidFill>
              <a:latin typeface="Times New Roman" panose="02020603050405020304"/>
            </a:endParaRPr>
          </a:p>
          <a:p>
            <a:pPr marL="274320" indent="-274320"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sz="1700" b="0">
                <a:solidFill>
                  <a:srgbClr val="000000"/>
                </a:solidFill>
                <a:latin typeface="Times New Roman" panose="02020603050405020304"/>
              </a:rPr>
              <a:t>Full offer history; deal locks at the agreed price</a:t>
            </a:r>
            <a:endParaRPr sz="1700" b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43400" y="1280160"/>
            <a:ext cx="3474720" cy="3337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ED7D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26280" y="1417320"/>
            <a:ext cx="548640" cy="54864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Times New Roman" panose="02020603050405020304"/>
              </a:rPr>
              <a:t>2</a:t>
            </a:r>
            <a:endParaRPr sz="18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212080" y="1371600"/>
            <a:ext cx="2514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002060"/>
                </a:solidFill>
                <a:latin typeface="Times New Roman" panose="02020603050405020304"/>
              </a:rPr>
              <a:t>Camera and Image Uploads</a:t>
            </a:r>
            <a:endParaRPr sz="1800" b="1">
              <a:solidFill>
                <a:srgbClr val="002060"/>
              </a:solidFill>
              <a:latin typeface="Times New Roman" panose="020206030504050203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26280" y="224028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sz="1700" b="0">
                <a:solidFill>
                  <a:srgbClr val="000000"/>
                </a:solidFill>
                <a:latin typeface="Times New Roman" panose="02020603050405020304"/>
              </a:rPr>
              <a:t>Capture photos with the mobile camera</a:t>
            </a:r>
            <a:endParaRPr sz="1700" b="0">
              <a:solidFill>
                <a:srgbClr val="000000"/>
              </a:solidFill>
              <a:latin typeface="Times New Roman" panose="02020603050405020304"/>
            </a:endParaRPr>
          </a:p>
          <a:p>
            <a:pPr marL="274320" indent="-274320"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sz="1700" b="0">
                <a:solidFill>
                  <a:srgbClr val="000000"/>
                </a:solidFill>
                <a:latin typeface="Times New Roman" panose="02020603050405020304"/>
              </a:rPr>
              <a:t>Or upload images from the gallery</a:t>
            </a:r>
            <a:endParaRPr sz="1700" b="0">
              <a:solidFill>
                <a:srgbClr val="000000"/>
              </a:solidFill>
              <a:latin typeface="Times New Roman" panose="02020603050405020304"/>
            </a:endParaRPr>
          </a:p>
          <a:p>
            <a:pPr marL="274320" indent="-274320"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sz="1700" b="0">
                <a:solidFill>
                  <a:srgbClr val="000000"/>
                </a:solidFill>
                <a:latin typeface="Times New Roman" panose="02020603050405020304"/>
              </a:rPr>
              <a:t>Buyers inspect products before ordering</a:t>
            </a:r>
            <a:endParaRPr sz="1700" b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138160" y="1280160"/>
            <a:ext cx="3474720" cy="3337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2E9E5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21040" y="1417320"/>
            <a:ext cx="548640" cy="548640"/>
          </a:xfrm>
          <a:prstGeom prst="ellipse">
            <a:avLst/>
          </a:prstGeom>
          <a:solidFill>
            <a:srgbClr val="2E9E5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Times New Roman" panose="02020603050405020304"/>
              </a:rPr>
              <a:t>3</a:t>
            </a:r>
            <a:endParaRPr sz="18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006840" y="1371600"/>
            <a:ext cx="251460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002060"/>
                </a:solidFill>
                <a:latin typeface="Times New Roman" panose="02020603050405020304"/>
              </a:rPr>
              <a:t>Smart Group Buying and Demand Pooling</a:t>
            </a:r>
            <a:endParaRPr sz="1800" b="1">
              <a:solidFill>
                <a:srgbClr val="002060"/>
              </a:solidFill>
              <a:latin typeface="Times New Roman" panose="020206030504050203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21040" y="224028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sz="1700" b="0">
                <a:solidFill>
                  <a:srgbClr val="000000"/>
                </a:solidFill>
                <a:latin typeface="Times New Roman" panose="02020603050405020304"/>
              </a:rPr>
              <a:t>Combines requests from many buyers</a:t>
            </a:r>
            <a:endParaRPr sz="1700" b="0">
              <a:solidFill>
                <a:srgbClr val="000000"/>
              </a:solidFill>
              <a:latin typeface="Times New Roman" panose="02020603050405020304"/>
            </a:endParaRPr>
          </a:p>
          <a:p>
            <a:pPr marL="274320" indent="-274320"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sz="1700" b="0">
                <a:solidFill>
                  <a:srgbClr val="000000"/>
                </a:solidFill>
                <a:latin typeface="Times New Roman" panose="02020603050405020304"/>
              </a:rPr>
              <a:t>Live progress toward the MOQ</a:t>
            </a:r>
            <a:endParaRPr sz="1700" b="0">
              <a:solidFill>
                <a:srgbClr val="000000"/>
              </a:solidFill>
              <a:latin typeface="Times New Roman" panose="02020603050405020304"/>
            </a:endParaRPr>
          </a:p>
          <a:p>
            <a:pPr marL="274320" indent="-274320">
              <a:spcAft>
                <a:spcPts val="1000"/>
              </a:spcAft>
              <a:buFont typeface="Wingdings" panose="05000000000000000000" pitchFamily="2" charset="2"/>
              <a:buChar char="Ø"/>
            </a:pPr>
            <a:r>
              <a:rPr sz="1700" b="0">
                <a:solidFill>
                  <a:srgbClr val="000000"/>
                </a:solidFill>
                <a:latin typeface="Times New Roman" panose="02020603050405020304"/>
              </a:rPr>
              <a:t>Unlocks wholesale discount tiers</a:t>
            </a:r>
            <a:endParaRPr sz="1700" b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48640" y="4754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002060"/>
                </a:solidFill>
                <a:latin typeface="Times New Roman" panose="02020603050405020304"/>
              </a:rPr>
              <a:t>Novel features</a:t>
            </a:r>
            <a:endParaRPr sz="2000" b="1">
              <a:solidFill>
                <a:srgbClr val="002060"/>
              </a:solidFill>
              <a:latin typeface="Times New Roman" panose="020206030504050203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48640" y="5212080"/>
            <a:ext cx="2651760" cy="1005840"/>
          </a:xfrm>
          <a:prstGeom prst="roundRect">
            <a:avLst>
              <a:gd name="adj" fmla="val 15000"/>
            </a:avLst>
          </a:prstGeom>
          <a:solidFill>
            <a:srgbClr val="DEEAF6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02060"/>
                </a:solidFill>
                <a:latin typeface="Times New Roman" panose="02020603050405020304"/>
              </a:rPr>
              <a:t>Offer and counteroffer with recorded history</a:t>
            </a:r>
            <a:endParaRPr sz="1600" b="1">
              <a:solidFill>
                <a:srgbClr val="002060"/>
              </a:solidFill>
              <a:latin typeface="Times New Roman" panose="020206030504050203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355848" y="5212080"/>
            <a:ext cx="2651760" cy="1005840"/>
          </a:xfrm>
          <a:prstGeom prst="roundRect">
            <a:avLst>
              <a:gd name="adj" fmla="val 15000"/>
            </a:avLst>
          </a:prstGeom>
          <a:solidFill>
            <a:srgbClr val="DEEAF6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02060"/>
                </a:solidFill>
                <a:latin typeface="Times New Roman" panose="02020603050405020304"/>
              </a:rPr>
              <a:t>Camera-first listings with gallery fallback</a:t>
            </a:r>
            <a:endParaRPr sz="1600" b="1">
              <a:solidFill>
                <a:srgbClr val="002060"/>
              </a:solidFill>
              <a:latin typeface="Times New Roman" panose="020206030504050203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163055" y="5212080"/>
            <a:ext cx="2651760" cy="1005840"/>
          </a:xfrm>
          <a:prstGeom prst="roundRect">
            <a:avLst>
              <a:gd name="adj" fmla="val 15000"/>
            </a:avLst>
          </a:prstGeom>
          <a:solidFill>
            <a:srgbClr val="DEEAF6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02060"/>
                </a:solidFill>
                <a:latin typeface="Times New Roman" panose="02020603050405020304"/>
              </a:rPr>
              <a:t>Auto-pooled MOQ progress tracker</a:t>
            </a:r>
            <a:endParaRPr sz="1600" b="1">
              <a:solidFill>
                <a:srgbClr val="002060"/>
              </a:solidFill>
              <a:latin typeface="Times New Roman" panose="020206030504050203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8970263" y="5212080"/>
            <a:ext cx="2651760" cy="1005840"/>
          </a:xfrm>
          <a:prstGeom prst="roundRect">
            <a:avLst>
              <a:gd name="adj" fmla="val 15000"/>
            </a:avLst>
          </a:prstGeom>
          <a:solidFill>
            <a:srgbClr val="DEEAF6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002060"/>
                </a:solidFill>
                <a:latin typeface="Times New Roman" panose="02020603050405020304"/>
              </a:rPr>
              <a:t>One codebase for Android and iOS</a:t>
            </a:r>
            <a:endParaRPr sz="1600" b="1">
              <a:solidFill>
                <a:srgbClr val="00206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109728"/>
            <a:ext cx="9509760" cy="914400"/>
          </a:xfrm>
        </p:spPr>
        <p:txBody>
          <a:bodyPr wrap="square" anchor="ctr"/>
          <a:lstStyle/>
          <a:p>
            <a:pPr algn="ctr"/>
            <a:r>
              <a:rPr sz="2800">
                <a:solidFill>
                  <a:srgbClr val="002060"/>
                </a:solidFill>
                <a:latin typeface="Algerian" panose="04020705040A02060702"/>
              </a:rPr>
              <a:t>Proposed Methodology / Workflow</a:t>
            </a:r>
            <a:endParaRPr sz="2800">
              <a:solidFill>
                <a:srgbClr val="002060"/>
              </a:solidFill>
              <a:latin typeface="Algerian" panose="04020705040A02060702"/>
            </a:endParaRP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680" y="0"/>
            <a:ext cx="955040" cy="1096268"/>
          </a:xfrm>
          <a:prstGeom prst="rect">
            <a:avLst/>
          </a:prstGeom>
        </p:spPr>
      </p:pic>
      <p:pic>
        <p:nvPicPr>
          <p:cNvPr id="4" name="Picture 3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3279" y="6450"/>
            <a:ext cx="1031065" cy="97571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325880"/>
            <a:ext cx="3291840" cy="9144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Times New Roman" panose="02020603050405020304"/>
              </a:rPr>
              <a:t>1  Register and choose role</a:t>
            </a:r>
            <a:endParaRPr sz="1600" b="1">
              <a:solidFill>
                <a:srgbClr val="FFFFFF"/>
              </a:solidFill>
              <a:latin typeface="Times New Roman" panose="02020603050405020304"/>
            </a:endParaRPr>
          </a:p>
          <a:p>
            <a:pPr algn="ctr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Times New Roman" panose="02020603050405020304"/>
              </a:rPr>
              <a:t>Buyer or Seller account</a:t>
            </a:r>
            <a:endParaRPr sz="1600" b="0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343400" y="1325880"/>
            <a:ext cx="3291840" cy="914400"/>
          </a:xfrm>
          <a:prstGeom prst="roundRect">
            <a:avLst>
              <a:gd name="adj" fmla="val 12000"/>
            </a:avLst>
          </a:prstGeom>
          <a:solidFill>
            <a:srgbClr val="ED7D31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Times New Roman" panose="02020603050405020304"/>
              </a:rPr>
              <a:t>2  Seller creates listing</a:t>
            </a:r>
            <a:endParaRPr sz="1600" b="1">
              <a:solidFill>
                <a:srgbClr val="FFFFFF"/>
              </a:solidFill>
              <a:latin typeface="Times New Roman" panose="02020603050405020304"/>
            </a:endParaRPr>
          </a:p>
          <a:p>
            <a:pPr algn="ctr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Times New Roman" panose="02020603050405020304"/>
              </a:rPr>
              <a:t>Photo (camera/gallery), price, MOQ</a:t>
            </a:r>
            <a:endParaRPr sz="1600" b="0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138160" y="1325880"/>
            <a:ext cx="3291840" cy="9144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Times New Roman" panose="02020603050405020304"/>
              </a:rPr>
              <a:t>3  Buyer browses and inspects</a:t>
            </a:r>
            <a:endParaRPr sz="1600" b="1">
              <a:solidFill>
                <a:srgbClr val="FFFFFF"/>
              </a:solidFill>
              <a:latin typeface="Times New Roman" panose="02020603050405020304"/>
            </a:endParaRPr>
          </a:p>
          <a:p>
            <a:pPr algn="ctr"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Times New Roman" panose="02020603050405020304"/>
              </a:rPr>
              <a:t>Views product photos and details</a:t>
            </a:r>
            <a:endParaRPr sz="1600" b="0">
              <a:solidFill>
                <a:srgbClr val="FFFFFF"/>
              </a:solidFill>
              <a:latin typeface="Times New Roman" panose="02020603050405020304"/>
            </a:endParaRPr>
          </a:p>
        </p:txBody>
      </p:sp>
      <p:cxnSp>
        <p:nvCxnSpPr>
          <p:cNvPr id="8" name="Connector 7"/>
          <p:cNvCxnSpPr/>
          <p:nvPr/>
        </p:nvCxnSpPr>
        <p:spPr>
          <a:xfrm>
            <a:off x="3840480" y="1783080"/>
            <a:ext cx="502920" cy="0"/>
          </a:xfrm>
          <a:prstGeom prst="line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635240" y="1783080"/>
            <a:ext cx="502920" cy="0"/>
          </a:xfrm>
          <a:prstGeom prst="line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784080" y="2240280"/>
            <a:ext cx="0" cy="502920"/>
          </a:xfrm>
          <a:prstGeom prst="line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iamond 10"/>
          <p:cNvSpPr/>
          <p:nvPr/>
        </p:nvSpPr>
        <p:spPr>
          <a:xfrm>
            <a:off x="8138160" y="2743200"/>
            <a:ext cx="3291840" cy="1554480"/>
          </a:xfrm>
          <a:prstGeom prst="diamond">
            <a:avLst/>
          </a:prstGeom>
          <a:solidFill>
            <a:srgbClr val="FFE699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002060"/>
                </a:solidFill>
                <a:latin typeface="Times New Roman" panose="02020603050405020304"/>
              </a:rPr>
              <a:t>4  Choose buying mode</a:t>
            </a:r>
            <a:endParaRPr sz="1700" b="1">
              <a:solidFill>
                <a:srgbClr val="002060"/>
              </a:solidFill>
              <a:latin typeface="Times New Roman" panose="020206030504050203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343400" y="3063240"/>
            <a:ext cx="3291840" cy="9144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Times New Roman" panose="02020603050405020304"/>
              </a:rPr>
              <a:t>5a  Negotiate (Module 1)</a:t>
            </a:r>
            <a:endParaRPr sz="1500" b="1">
              <a:solidFill>
                <a:srgbClr val="FFFFFF"/>
              </a:solidFill>
              <a:latin typeface="Times New Roman" panose="02020603050405020304"/>
            </a:endParaRPr>
          </a:p>
          <a:p>
            <a:pPr algn="ctr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Times New Roman" panose="02020603050405020304"/>
              </a:rPr>
              <a:t>Offer, counteroffer, accept or reject</a:t>
            </a:r>
            <a:endParaRPr sz="1500" b="0">
              <a:solidFill>
                <a:srgbClr val="FFFFFF"/>
              </a:solidFill>
              <a:latin typeface="Times New Roman" panose="02020603050405020304"/>
            </a:endParaRPr>
          </a:p>
        </p:txBody>
      </p:sp>
      <p:cxnSp>
        <p:nvCxnSpPr>
          <p:cNvPr id="13" name="Connector 12"/>
          <p:cNvCxnSpPr/>
          <p:nvPr/>
        </p:nvCxnSpPr>
        <p:spPr>
          <a:xfrm flipH="1">
            <a:off x="7635240" y="3520440"/>
            <a:ext cx="502920" cy="0"/>
          </a:xfrm>
          <a:prstGeom prst="line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635240" y="3108960"/>
            <a:ext cx="5486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595959"/>
                </a:solidFill>
                <a:latin typeface="Times New Roman" panose="02020603050405020304"/>
              </a:rPr>
              <a:t>Bulk</a:t>
            </a:r>
            <a:endParaRPr sz="1300" b="1">
              <a:solidFill>
                <a:srgbClr val="595959"/>
              </a:solidFill>
              <a:latin typeface="Times New Roman" panose="020206030504050203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138160" y="4892040"/>
            <a:ext cx="3291840" cy="914400"/>
          </a:xfrm>
          <a:prstGeom prst="roundRect">
            <a:avLst>
              <a:gd name="adj" fmla="val 12000"/>
            </a:avLst>
          </a:prstGeom>
          <a:solidFill>
            <a:srgbClr val="2E9E5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Times New Roman" panose="02020603050405020304"/>
              </a:rPr>
              <a:t>5b  Join group pool (Module 3)</a:t>
            </a:r>
            <a:endParaRPr sz="1500" b="1">
              <a:solidFill>
                <a:srgbClr val="FFFFFF"/>
              </a:solidFill>
              <a:latin typeface="Times New Roman" panose="02020603050405020304"/>
            </a:endParaRPr>
          </a:p>
          <a:p>
            <a:pPr algn="ctr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Times New Roman" panose="02020603050405020304"/>
              </a:rPr>
              <a:t>Quantities add up to the MOQ</a:t>
            </a:r>
            <a:endParaRPr sz="1500" b="0">
              <a:solidFill>
                <a:srgbClr val="FFFFFF"/>
              </a:solidFill>
              <a:latin typeface="Times New Roman" panose="02020603050405020304"/>
            </a:endParaRPr>
          </a:p>
        </p:txBody>
      </p:sp>
      <p:cxnSp>
        <p:nvCxnSpPr>
          <p:cNvPr id="16" name="Connector 15"/>
          <p:cNvCxnSpPr/>
          <p:nvPr/>
        </p:nvCxnSpPr>
        <p:spPr>
          <a:xfrm>
            <a:off x="9784080" y="4297680"/>
            <a:ext cx="0" cy="594360"/>
          </a:xfrm>
          <a:prstGeom prst="line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875520" y="4370832"/>
            <a:ext cx="1737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595959"/>
                </a:solidFill>
                <a:latin typeface="Times New Roman" panose="02020603050405020304"/>
              </a:rPr>
              <a:t>Small qty</a:t>
            </a:r>
            <a:endParaRPr sz="1300" b="1">
              <a:solidFill>
                <a:srgbClr val="595959"/>
              </a:solidFill>
              <a:latin typeface="Times New Roman" panose="020206030504050203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343400" y="4892040"/>
            <a:ext cx="3291840" cy="9144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Times New Roman" panose="02020603050405020304"/>
              </a:rPr>
              <a:t>6  Deal agreed / MOQ reached</a:t>
            </a:r>
            <a:endParaRPr sz="1500" b="1">
              <a:solidFill>
                <a:srgbClr val="FFFFFF"/>
              </a:solidFill>
              <a:latin typeface="Times New Roman" panose="02020603050405020304"/>
            </a:endParaRPr>
          </a:p>
          <a:p>
            <a:pPr algn="ctr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Times New Roman" panose="02020603050405020304"/>
              </a:rPr>
              <a:t>Final or discounted price locked</a:t>
            </a:r>
            <a:endParaRPr sz="1500" b="0">
              <a:solidFill>
                <a:srgbClr val="FFFFFF"/>
              </a:solidFill>
              <a:latin typeface="Times New Roman" panose="02020603050405020304"/>
            </a:endParaRPr>
          </a:p>
        </p:txBody>
      </p:sp>
      <p:cxnSp>
        <p:nvCxnSpPr>
          <p:cNvPr id="19" name="Connector 18"/>
          <p:cNvCxnSpPr/>
          <p:nvPr/>
        </p:nvCxnSpPr>
        <p:spPr>
          <a:xfrm>
            <a:off x="5989320" y="3977639"/>
            <a:ext cx="0" cy="914401"/>
          </a:xfrm>
          <a:prstGeom prst="line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7635240" y="5349240"/>
            <a:ext cx="502920" cy="0"/>
          </a:xfrm>
          <a:prstGeom prst="line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48640" y="4892040"/>
            <a:ext cx="3291840" cy="914400"/>
          </a:xfrm>
          <a:prstGeom prst="roundRect">
            <a:avLst>
              <a:gd name="adj" fmla="val 12000"/>
            </a:avLst>
          </a:prstGeom>
          <a:solidFill>
            <a:srgbClr val="1F6F4A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Times New Roman" panose="02020603050405020304"/>
              </a:rPr>
              <a:t>7  Order and notification</a:t>
            </a:r>
            <a:endParaRPr sz="1500" b="1">
              <a:solidFill>
                <a:srgbClr val="FFFFFF"/>
              </a:solidFill>
              <a:latin typeface="Times New Roman" panose="02020603050405020304"/>
            </a:endParaRPr>
          </a:p>
          <a:p>
            <a:pPr algn="ctr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Times New Roman" panose="02020603050405020304"/>
              </a:rPr>
              <a:t>Confirmation sent to both parties</a:t>
            </a:r>
            <a:endParaRPr sz="1500" b="0">
              <a:solidFill>
                <a:srgbClr val="FFFFFF"/>
              </a:solidFill>
              <a:latin typeface="Times New Roman" panose="02020603050405020304"/>
            </a:endParaRPr>
          </a:p>
        </p:txBody>
      </p:sp>
      <p:cxnSp>
        <p:nvCxnSpPr>
          <p:cNvPr id="22" name="Connector 21"/>
          <p:cNvCxnSpPr/>
          <p:nvPr/>
        </p:nvCxnSpPr>
        <p:spPr>
          <a:xfrm flipH="1">
            <a:off x="3840480" y="5349240"/>
            <a:ext cx="502920" cy="0"/>
          </a:xfrm>
          <a:prstGeom prst="line">
            <a:avLst/>
          </a:prstGeom>
          <a:ln w="28575">
            <a:solidFill>
              <a:srgbClr val="0020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26974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1">
                <a:solidFill>
                  <a:srgbClr val="002060"/>
                </a:solidFill>
                <a:latin typeface="Times New Roman" panose="02020603050405020304"/>
              </a:rPr>
              <a:t>Module key</a:t>
            </a:r>
            <a:endParaRPr sz="1700" b="1">
              <a:solidFill>
                <a:srgbClr val="002060"/>
              </a:solidFill>
              <a:latin typeface="Times New Roman" panose="020206030504050203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94360" y="320040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0070C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313639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Times New Roman" panose="02020603050405020304"/>
              </a:rPr>
              <a:t>Module 1: Price negotiator</a:t>
            </a:r>
            <a:endParaRPr sz="1500" b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94360" y="365760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D7D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359359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Times New Roman" panose="02020603050405020304"/>
              </a:rPr>
              <a:t>Module 2: Camera and image uploads</a:t>
            </a:r>
            <a:endParaRPr sz="1500" b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594360" y="411480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2E9E5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4050791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000000"/>
                </a:solidFill>
                <a:latin typeface="Times New Roman" panose="02020603050405020304"/>
              </a:rPr>
              <a:t>Module 3: Group buying</a:t>
            </a:r>
            <a:endParaRPr sz="1500" b="0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109728"/>
            <a:ext cx="9509760" cy="914400"/>
          </a:xfrm>
        </p:spPr>
        <p:txBody>
          <a:bodyPr wrap="square" anchor="ctr"/>
          <a:lstStyle/>
          <a:p>
            <a:pPr algn="ctr"/>
            <a:r>
              <a:rPr sz="2800">
                <a:solidFill>
                  <a:srgbClr val="002060"/>
                </a:solidFill>
                <a:latin typeface="Algerian" panose="04020705040A02060702"/>
              </a:rPr>
              <a:t>System Architecture Diagram</a:t>
            </a:r>
            <a:endParaRPr sz="2800">
              <a:solidFill>
                <a:srgbClr val="002060"/>
              </a:solidFill>
              <a:latin typeface="Algerian" panose="04020705040A02060702"/>
            </a:endParaRP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680" y="0"/>
            <a:ext cx="955040" cy="1096268"/>
          </a:xfrm>
          <a:prstGeom prst="rect">
            <a:avLst/>
          </a:prstGeom>
        </p:spPr>
      </p:pic>
      <p:pic>
        <p:nvPicPr>
          <p:cNvPr id="4" name="Picture 3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3279" y="6450"/>
            <a:ext cx="1031065" cy="97571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188720"/>
            <a:ext cx="1783080" cy="114300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Times New Roman" panose="02020603050405020304"/>
              </a:rPr>
              <a:t>Client Layer</a:t>
            </a:r>
            <a:endParaRPr sz="1500" b="1">
              <a:solidFill>
                <a:srgbClr val="FFFFFF"/>
              </a:solidFill>
              <a:latin typeface="Times New Roman" panose="02020603050405020304"/>
            </a:endParaRPr>
          </a:p>
          <a:p>
            <a:pPr algn="ctr">
              <a:spcAft>
                <a:spcPts val="0"/>
              </a:spcAft>
            </a:pPr>
            <a:r>
              <a:rPr sz="1500" b="0">
                <a:solidFill>
                  <a:srgbClr val="CADCFC"/>
                </a:solidFill>
                <a:latin typeface="Times New Roman" panose="02020603050405020304"/>
              </a:rPr>
              <a:t>Flutter app (Android + iOS)</a:t>
            </a:r>
            <a:endParaRPr sz="1500" b="0">
              <a:solidFill>
                <a:srgbClr val="CADCFC"/>
              </a:solidFill>
              <a:latin typeface="Times New Roman" panose="020206030504050203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423160" y="1188720"/>
            <a:ext cx="9189720" cy="1143000"/>
          </a:xfrm>
          <a:prstGeom prst="roundRect">
            <a:avLst>
              <a:gd name="adj" fmla="val 5000"/>
            </a:avLst>
          </a:prstGeom>
          <a:solidFill>
            <a:srgbClr val="F3F7FC"/>
          </a:solidFill>
          <a:ln w="15875">
            <a:solidFill>
              <a:srgbClr val="B8CC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1783080" cy="77724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Times New Roman" panose="02020603050405020304"/>
              </a:rPr>
              <a:t>API Layer</a:t>
            </a:r>
            <a:endParaRPr sz="1500" b="1">
              <a:solidFill>
                <a:srgbClr val="FFFFFF"/>
              </a:solidFill>
              <a:latin typeface="Times New Roman" panose="02020603050405020304"/>
            </a:endParaRPr>
          </a:p>
          <a:p>
            <a:pPr algn="ctr">
              <a:spcAft>
                <a:spcPts val="0"/>
              </a:spcAft>
            </a:pPr>
            <a:r>
              <a:rPr sz="1500" b="0">
                <a:solidFill>
                  <a:srgbClr val="CADCFC"/>
                </a:solidFill>
                <a:latin typeface="Times New Roman" panose="02020603050405020304"/>
              </a:rPr>
              <a:t>REST over HTTPS</a:t>
            </a:r>
            <a:endParaRPr sz="1500" b="0">
              <a:solidFill>
                <a:srgbClr val="CADCFC"/>
              </a:solidFill>
              <a:latin typeface="Times New Roman" panose="020206030504050203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423160" y="2651760"/>
            <a:ext cx="9189720" cy="777240"/>
          </a:xfrm>
          <a:prstGeom prst="roundRect">
            <a:avLst>
              <a:gd name="adj" fmla="val 5000"/>
            </a:avLst>
          </a:prstGeom>
          <a:solidFill>
            <a:srgbClr val="F3F7FC"/>
          </a:solidFill>
          <a:ln w="15875">
            <a:solidFill>
              <a:srgbClr val="B8CC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48640" y="3749039"/>
            <a:ext cx="1783080" cy="128016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Times New Roman" panose="02020603050405020304"/>
              </a:rPr>
              <a:t>Service Layer</a:t>
            </a:r>
            <a:endParaRPr sz="1500" b="1">
              <a:solidFill>
                <a:srgbClr val="FFFFFF"/>
              </a:solidFill>
              <a:latin typeface="Times New Roman" panose="02020603050405020304"/>
            </a:endParaRPr>
          </a:p>
          <a:p>
            <a:pPr algn="ctr">
              <a:spcAft>
                <a:spcPts val="0"/>
              </a:spcAft>
            </a:pPr>
            <a:r>
              <a:rPr sz="1500" b="0">
                <a:solidFill>
                  <a:srgbClr val="CADCFC"/>
                </a:solidFill>
                <a:latin typeface="Times New Roman" panose="02020603050405020304"/>
              </a:rPr>
              <a:t>Business logic</a:t>
            </a:r>
            <a:endParaRPr sz="1500" b="0">
              <a:solidFill>
                <a:srgbClr val="CADCFC"/>
              </a:solidFill>
              <a:latin typeface="Times New Roman" panose="020206030504050203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423160" y="3749039"/>
            <a:ext cx="9189720" cy="1280160"/>
          </a:xfrm>
          <a:prstGeom prst="roundRect">
            <a:avLst>
              <a:gd name="adj" fmla="val 5000"/>
            </a:avLst>
          </a:prstGeom>
          <a:solidFill>
            <a:srgbClr val="F3F7FC"/>
          </a:solidFill>
          <a:ln w="15875">
            <a:solidFill>
              <a:srgbClr val="B8CC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5349240"/>
            <a:ext cx="1783080" cy="100584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Times New Roman" panose="02020603050405020304"/>
              </a:rPr>
              <a:t>Data and Cloud Layer</a:t>
            </a:r>
            <a:endParaRPr sz="1500" b="1">
              <a:solidFill>
                <a:srgbClr val="FFFFFF"/>
              </a:solidFill>
              <a:latin typeface="Times New Roman" panose="02020603050405020304"/>
            </a:endParaRPr>
          </a:p>
          <a:p>
            <a:pPr algn="ctr">
              <a:spcAft>
                <a:spcPts val="0"/>
              </a:spcAft>
            </a:pPr>
            <a:r>
              <a:rPr sz="1500" b="0">
                <a:solidFill>
                  <a:srgbClr val="CADCFC"/>
                </a:solidFill>
                <a:latin typeface="Times New Roman" panose="02020603050405020304"/>
              </a:rPr>
              <a:t>Storage and push</a:t>
            </a:r>
            <a:endParaRPr sz="1500" b="0">
              <a:solidFill>
                <a:srgbClr val="CADCFC"/>
              </a:solidFill>
              <a:latin typeface="Times New Roman" panose="020206030504050203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2423160" y="5349240"/>
            <a:ext cx="9189720" cy="1005840"/>
          </a:xfrm>
          <a:prstGeom prst="roundRect">
            <a:avLst>
              <a:gd name="adj" fmla="val 5000"/>
            </a:avLst>
          </a:prstGeom>
          <a:solidFill>
            <a:srgbClr val="F3F7FC"/>
          </a:solidFill>
          <a:ln w="15875">
            <a:solidFill>
              <a:srgbClr val="B8CC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560320" y="1325880"/>
            <a:ext cx="2849880" cy="86868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Times New Roman" panose="02020603050405020304"/>
              </a:rPr>
              <a:t>Buyer screens</a:t>
            </a:r>
            <a:endParaRPr sz="1500" b="1">
              <a:solidFill>
                <a:srgbClr val="FFFFFF"/>
              </a:solidFill>
              <a:latin typeface="Times New Roman" panose="02020603050405020304"/>
            </a:endParaRPr>
          </a:p>
          <a:p>
            <a:pPr algn="ctr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Times New Roman" panose="02020603050405020304"/>
              </a:rPr>
              <a:t>Browse, offer, join pool</a:t>
            </a:r>
            <a:endParaRPr sz="1500" b="0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593080" y="1325880"/>
            <a:ext cx="2849880" cy="86868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Times New Roman" panose="02020603050405020304"/>
              </a:rPr>
              <a:t>Seller screens</a:t>
            </a:r>
            <a:endParaRPr sz="1500" b="1">
              <a:solidFill>
                <a:srgbClr val="FFFFFF"/>
              </a:solidFill>
              <a:latin typeface="Times New Roman" panose="02020603050405020304"/>
            </a:endParaRPr>
          </a:p>
          <a:p>
            <a:pPr algn="ctr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Times New Roman" panose="02020603050405020304"/>
              </a:rPr>
              <a:t>Create listing, respond to offers</a:t>
            </a:r>
            <a:endParaRPr sz="1500" b="0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625840" y="1325880"/>
            <a:ext cx="2849880" cy="868680"/>
          </a:xfrm>
          <a:prstGeom prst="roundRect">
            <a:avLst>
              <a:gd name="adj" fmla="val 12000"/>
            </a:avLst>
          </a:prstGeom>
          <a:solidFill>
            <a:srgbClr val="ED7D31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Times New Roman" panose="02020603050405020304"/>
              </a:rPr>
              <a:t>Device camera / gallery</a:t>
            </a:r>
            <a:endParaRPr sz="1500" b="1">
              <a:solidFill>
                <a:srgbClr val="FFFFFF"/>
              </a:solidFill>
              <a:latin typeface="Times New Roman" panose="02020603050405020304"/>
            </a:endParaRPr>
          </a:p>
          <a:p>
            <a:pPr algn="ctr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Times New Roman" panose="02020603050405020304"/>
              </a:rPr>
              <a:t>Image capture and pick</a:t>
            </a:r>
            <a:endParaRPr sz="1500" b="0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560320" y="2788920"/>
            <a:ext cx="8915400" cy="502920"/>
          </a:xfrm>
          <a:prstGeom prst="roundRect">
            <a:avLst>
              <a:gd name="adj" fmla="val 12000"/>
            </a:avLst>
          </a:prstGeom>
          <a:solidFill>
            <a:srgbClr val="00206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Times New Roman" panose="02020603050405020304"/>
              </a:rPr>
              <a:t>REST API gateway: authentication (JWT) and role check</a:t>
            </a:r>
            <a:endParaRPr sz="15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2560320" y="3886200"/>
            <a:ext cx="2091690" cy="1005839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imes New Roman" panose="02020603050405020304"/>
              </a:rPr>
              <a:t>Negotiation Service</a:t>
            </a:r>
            <a:endParaRPr sz="1400" b="1">
              <a:solidFill>
                <a:srgbClr val="FFFFFF"/>
              </a:solidFill>
              <a:latin typeface="Times New Roman" panose="02020603050405020304"/>
            </a:endParaRP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Times New Roman" panose="02020603050405020304"/>
              </a:rPr>
              <a:t>Offers, counters, history</a:t>
            </a:r>
            <a:endParaRPr sz="1400" b="0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834890" y="3886200"/>
            <a:ext cx="2091690" cy="1005839"/>
          </a:xfrm>
          <a:prstGeom prst="roundRect">
            <a:avLst>
              <a:gd name="adj" fmla="val 12000"/>
            </a:avLst>
          </a:prstGeom>
          <a:solidFill>
            <a:srgbClr val="ED7D31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imes New Roman" panose="02020603050405020304"/>
              </a:rPr>
              <a:t>Image Service</a:t>
            </a:r>
            <a:endParaRPr sz="1400" b="1">
              <a:solidFill>
                <a:srgbClr val="FFFFFF"/>
              </a:solidFill>
              <a:latin typeface="Times New Roman" panose="02020603050405020304"/>
            </a:endParaRP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Times New Roman" panose="02020603050405020304"/>
              </a:rPr>
              <a:t>Validate, compress, upload</a:t>
            </a:r>
            <a:endParaRPr sz="1400" b="0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109460" y="3886200"/>
            <a:ext cx="2091690" cy="1005839"/>
          </a:xfrm>
          <a:prstGeom prst="roundRect">
            <a:avLst>
              <a:gd name="adj" fmla="val 12000"/>
            </a:avLst>
          </a:prstGeom>
          <a:solidFill>
            <a:srgbClr val="2E9E5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imes New Roman" panose="02020603050405020304"/>
              </a:rPr>
              <a:t>Group Buying Service</a:t>
            </a:r>
            <a:endParaRPr sz="1400" b="1">
              <a:solidFill>
                <a:srgbClr val="FFFFFF"/>
              </a:solidFill>
              <a:latin typeface="Times New Roman" panose="02020603050405020304"/>
            </a:endParaRP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Times New Roman" panose="02020603050405020304"/>
              </a:rPr>
              <a:t>Pools, MOQ, discounts</a:t>
            </a:r>
            <a:endParaRPr sz="1400" b="0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384030" y="3886200"/>
            <a:ext cx="2091690" cy="1005839"/>
          </a:xfrm>
          <a:prstGeom prst="roundRect">
            <a:avLst>
              <a:gd name="adj" fmla="val 12000"/>
            </a:avLst>
          </a:prstGeom>
          <a:solidFill>
            <a:srgbClr val="7F7F7F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Times New Roman" panose="02020603050405020304"/>
              </a:rPr>
              <a:t>Order and Notification</a:t>
            </a:r>
            <a:endParaRPr sz="1400" b="1">
              <a:solidFill>
                <a:srgbClr val="FFFFFF"/>
              </a:solidFill>
              <a:latin typeface="Times New Roman" panose="02020603050405020304"/>
            </a:endParaRPr>
          </a:p>
          <a:p>
            <a:pPr algn="ctr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Times New Roman" panose="02020603050405020304"/>
              </a:rPr>
              <a:t>Orders, alerts</a:t>
            </a:r>
            <a:endParaRPr sz="1400" b="0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2560320" y="5486400"/>
            <a:ext cx="2849880" cy="731520"/>
          </a:xfrm>
          <a:prstGeom prst="roundRect">
            <a:avLst>
              <a:gd name="adj" fmla="val 12000"/>
            </a:avLst>
          </a:prstGeom>
          <a:solidFill>
            <a:srgbClr val="44546A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Times New Roman" panose="02020603050405020304"/>
              </a:rPr>
              <a:t>MySQL database</a:t>
            </a:r>
            <a:endParaRPr sz="15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5593080" y="5486400"/>
            <a:ext cx="2849880" cy="731520"/>
          </a:xfrm>
          <a:prstGeom prst="roundRect">
            <a:avLst>
              <a:gd name="adj" fmla="val 12000"/>
            </a:avLst>
          </a:prstGeom>
          <a:solidFill>
            <a:srgbClr val="44546A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Times New Roman" panose="02020603050405020304"/>
              </a:rPr>
              <a:t>Cloud image storage</a:t>
            </a:r>
            <a:endParaRPr sz="15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625840" y="5486400"/>
            <a:ext cx="2849880" cy="731520"/>
          </a:xfrm>
          <a:prstGeom prst="roundRect">
            <a:avLst>
              <a:gd name="adj" fmla="val 12000"/>
            </a:avLst>
          </a:prstGeom>
          <a:solidFill>
            <a:srgbClr val="44546A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Times New Roman" panose="02020603050405020304"/>
              </a:rPr>
              <a:t>Push notifications (FCM)</a:t>
            </a:r>
            <a:endParaRPr sz="15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6995160" y="2331720"/>
            <a:ext cx="0" cy="320040"/>
          </a:xfrm>
          <a:prstGeom prst="line">
            <a:avLst/>
          </a:prstGeom>
          <a:ln w="31750">
            <a:solidFill>
              <a:srgbClr val="00206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995160" y="3429000"/>
            <a:ext cx="0" cy="320039"/>
          </a:xfrm>
          <a:prstGeom prst="line">
            <a:avLst/>
          </a:prstGeom>
          <a:ln w="31750">
            <a:solidFill>
              <a:srgbClr val="00206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995160" y="5029200"/>
            <a:ext cx="0" cy="320040"/>
          </a:xfrm>
          <a:prstGeom prst="line">
            <a:avLst/>
          </a:prstGeom>
          <a:ln w="31750">
            <a:solidFill>
              <a:srgbClr val="00206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109728"/>
            <a:ext cx="9509760" cy="914400"/>
          </a:xfrm>
        </p:spPr>
        <p:txBody>
          <a:bodyPr wrap="square" anchor="ctr"/>
          <a:lstStyle/>
          <a:p>
            <a:pPr algn="ctr"/>
            <a:r>
              <a:rPr sz="2800">
                <a:solidFill>
                  <a:srgbClr val="002060"/>
                </a:solidFill>
                <a:latin typeface="Algerian" panose="04020705040A02060702"/>
              </a:rPr>
              <a:t>Technologies, Software, Hardware and Tools</a:t>
            </a:r>
            <a:endParaRPr sz="2800">
              <a:solidFill>
                <a:srgbClr val="002060"/>
              </a:solidFill>
              <a:latin typeface="Algerian" panose="04020705040A02060702"/>
            </a:endParaRP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680" y="0"/>
            <a:ext cx="955040" cy="1096268"/>
          </a:xfrm>
          <a:prstGeom prst="rect">
            <a:avLst/>
          </a:prstGeom>
        </p:spPr>
      </p:pic>
      <p:pic>
        <p:nvPicPr>
          <p:cNvPr id="4" name="Picture 3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3279" y="6450"/>
            <a:ext cx="1031065" cy="97571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280160"/>
            <a:ext cx="544068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8CC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440680" cy="548640"/>
          </a:xfrm>
          <a:prstGeom prst="roundRect">
            <a:avLst>
              <a:gd name="adj" fmla="val 20000"/>
            </a:avLst>
          </a:prstGeom>
          <a:solidFill>
            <a:srgbClr val="0070C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Times New Roman" panose="02020603050405020304"/>
              </a:rPr>
              <a:t>Software</a:t>
            </a:r>
            <a:endParaRPr sz="20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1938528"/>
            <a:ext cx="50292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sz="1700" b="0">
                <a:solidFill>
                  <a:srgbClr val="000000"/>
                </a:solidFill>
                <a:latin typeface="Times New Roman" panose="02020603050405020304"/>
              </a:rPr>
              <a:t>Flutter (Dart): cross-platform UI</a:t>
            </a:r>
            <a:endParaRPr sz="1700" b="0">
              <a:solidFill>
                <a:srgbClr val="000000"/>
              </a:solidFill>
              <a:latin typeface="Times New Roman" panose="02020603050405020304"/>
            </a:endParaRPr>
          </a:p>
          <a:p>
            <a:pPr marL="274320" indent="-274320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sz="1700" b="0">
                <a:solidFill>
                  <a:srgbClr val="000000"/>
                </a:solidFill>
                <a:latin typeface="Times New Roman" panose="02020603050405020304"/>
              </a:rPr>
              <a:t>Spring Boot (Java): REST API</a:t>
            </a:r>
            <a:endParaRPr sz="1700" b="0">
              <a:solidFill>
                <a:srgbClr val="000000"/>
              </a:solidFill>
              <a:latin typeface="Times New Roman" panose="02020603050405020304"/>
            </a:endParaRPr>
          </a:p>
          <a:p>
            <a:pPr marL="274320" indent="-274320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sz="1700" b="0">
                <a:solidFill>
                  <a:srgbClr val="000000"/>
                </a:solidFill>
                <a:latin typeface="Times New Roman" panose="02020603050405020304"/>
              </a:rPr>
              <a:t>MySQL: relational database</a:t>
            </a:r>
            <a:endParaRPr sz="1700" b="0">
              <a:solidFill>
                <a:srgbClr val="000000"/>
              </a:solidFill>
              <a:latin typeface="Times New Roman" panose="02020603050405020304"/>
            </a:endParaRPr>
          </a:p>
          <a:p>
            <a:pPr marL="274320" indent="-274320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sz="1700" b="0">
                <a:solidFill>
                  <a:srgbClr val="000000"/>
                </a:solidFill>
                <a:latin typeface="Times New Roman" panose="02020603050405020304"/>
              </a:rPr>
              <a:t>JSON over HTTPS (REST)</a:t>
            </a:r>
            <a:endParaRPr sz="1700" b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172200" y="1280160"/>
            <a:ext cx="544068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8CC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200" y="1280160"/>
            <a:ext cx="5440680" cy="548640"/>
          </a:xfrm>
          <a:prstGeom prst="roundRect">
            <a:avLst>
              <a:gd name="adj" fmla="val 20000"/>
            </a:avLst>
          </a:prstGeom>
          <a:solidFill>
            <a:srgbClr val="ED7D31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Times New Roman" panose="02020603050405020304"/>
              </a:rPr>
              <a:t>Hardware</a:t>
            </a:r>
            <a:endParaRPr sz="20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0" y="1938528"/>
            <a:ext cx="50292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sz="1700" b="0">
                <a:solidFill>
                  <a:srgbClr val="000000"/>
                </a:solidFill>
                <a:latin typeface="Times New Roman" panose="02020603050405020304"/>
              </a:rPr>
              <a:t>Android and iOS smartphones with camera</a:t>
            </a:r>
            <a:endParaRPr sz="1700" b="0">
              <a:solidFill>
                <a:srgbClr val="000000"/>
              </a:solidFill>
              <a:latin typeface="Times New Roman" panose="02020603050405020304"/>
            </a:endParaRPr>
          </a:p>
          <a:p>
            <a:pPr marL="274320" indent="-274320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sz="1700" b="0">
                <a:solidFill>
                  <a:srgbClr val="000000"/>
                </a:solidFill>
                <a:latin typeface="Times New Roman" panose="02020603050405020304"/>
              </a:rPr>
              <a:t>Development laptop (8 GB RAM or more)</a:t>
            </a:r>
            <a:endParaRPr sz="1700" b="0">
              <a:solidFill>
                <a:srgbClr val="000000"/>
              </a:solidFill>
              <a:latin typeface="Times New Roman" panose="02020603050405020304"/>
            </a:endParaRPr>
          </a:p>
          <a:p>
            <a:pPr marL="274320" indent="-274320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sz="1700" b="0">
                <a:solidFill>
                  <a:srgbClr val="000000"/>
                </a:solidFill>
                <a:latin typeface="Times New Roman" panose="02020603050405020304"/>
              </a:rPr>
              <a:t>Wi-Fi / mobile data for testing</a:t>
            </a:r>
            <a:endParaRPr sz="1700" b="0">
              <a:solidFill>
                <a:srgbClr val="000000"/>
              </a:solidFill>
              <a:latin typeface="Times New Roman" panose="02020603050405020304"/>
            </a:endParaRPr>
          </a:p>
          <a:p>
            <a:pPr marL="274320" indent="-274320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sz="1700" b="0">
                <a:solidFill>
                  <a:srgbClr val="000000"/>
                </a:solidFill>
                <a:latin typeface="Times New Roman" panose="02020603050405020304"/>
              </a:rPr>
              <a:t>Android emulator and iOS simulator</a:t>
            </a:r>
            <a:endParaRPr sz="1700" b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48640" y="3840479"/>
            <a:ext cx="544068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8CC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3840479"/>
            <a:ext cx="5440680" cy="548640"/>
          </a:xfrm>
          <a:prstGeom prst="roundRect">
            <a:avLst>
              <a:gd name="adj" fmla="val 20000"/>
            </a:avLst>
          </a:prstGeom>
          <a:solidFill>
            <a:srgbClr val="2E9E5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Times New Roman" panose="02020603050405020304"/>
              </a:rPr>
              <a:t>Tools</a:t>
            </a:r>
            <a:endParaRPr sz="20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4498847"/>
            <a:ext cx="50292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sz="1700" b="0">
                <a:solidFill>
                  <a:srgbClr val="000000"/>
                </a:solidFill>
                <a:latin typeface="Times New Roman" panose="02020603050405020304"/>
              </a:rPr>
              <a:t>Android Studio and VS Code</a:t>
            </a:r>
            <a:endParaRPr sz="1700" b="0">
              <a:solidFill>
                <a:srgbClr val="000000"/>
              </a:solidFill>
              <a:latin typeface="Times New Roman" panose="02020603050405020304"/>
            </a:endParaRPr>
          </a:p>
          <a:p>
            <a:pPr marL="274320" indent="-274320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sz="1700" b="0">
                <a:solidFill>
                  <a:srgbClr val="000000"/>
                </a:solidFill>
                <a:latin typeface="Times New Roman" panose="02020603050405020304"/>
              </a:rPr>
              <a:t>Git and GitHub</a:t>
            </a:r>
            <a:endParaRPr sz="1700" b="0">
              <a:solidFill>
                <a:srgbClr val="000000"/>
              </a:solidFill>
              <a:latin typeface="Times New Roman" panose="02020603050405020304"/>
            </a:endParaRPr>
          </a:p>
          <a:p>
            <a:pPr marL="274320" indent="-274320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sz="1700" b="0">
                <a:solidFill>
                  <a:srgbClr val="000000"/>
                </a:solidFill>
                <a:latin typeface="Times New Roman" panose="02020603050405020304"/>
              </a:rPr>
              <a:t>Postman for API testing</a:t>
            </a:r>
            <a:endParaRPr sz="1700" b="0">
              <a:solidFill>
                <a:srgbClr val="000000"/>
              </a:solidFill>
              <a:latin typeface="Times New Roman" panose="02020603050405020304"/>
            </a:endParaRPr>
          </a:p>
          <a:p>
            <a:pPr marL="274320" indent="-274320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sz="1700" b="0">
                <a:solidFill>
                  <a:srgbClr val="000000"/>
                </a:solidFill>
                <a:latin typeface="Times New Roman" panose="02020603050405020304"/>
              </a:rPr>
              <a:t>Figma for UI wireframes</a:t>
            </a:r>
            <a:endParaRPr sz="1700" b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172200" y="3840479"/>
            <a:ext cx="5440680" cy="23774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B8CC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72200" y="3840479"/>
            <a:ext cx="5440680" cy="548640"/>
          </a:xfrm>
          <a:prstGeom prst="roundRect">
            <a:avLst>
              <a:gd name="adj" fmla="val 20000"/>
            </a:avLst>
          </a:prstGeom>
          <a:solidFill>
            <a:srgbClr val="00206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Times New Roman" panose="02020603050405020304"/>
              </a:rPr>
              <a:t>Libraries and Services</a:t>
            </a:r>
            <a:endParaRPr sz="20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0" y="4498847"/>
            <a:ext cx="502920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sz="1700" b="0">
                <a:solidFill>
                  <a:srgbClr val="000000"/>
                </a:solidFill>
                <a:latin typeface="Times New Roman" panose="02020603050405020304"/>
              </a:rPr>
              <a:t>image_picker and camera plugins</a:t>
            </a:r>
            <a:endParaRPr sz="1700" b="0">
              <a:solidFill>
                <a:srgbClr val="000000"/>
              </a:solidFill>
              <a:latin typeface="Times New Roman" panose="02020603050405020304"/>
            </a:endParaRPr>
          </a:p>
          <a:p>
            <a:pPr marL="274320" indent="-274320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sz="1700" b="0">
                <a:solidFill>
                  <a:srgbClr val="000000"/>
                </a:solidFill>
                <a:latin typeface="Times New Roman" panose="02020603050405020304"/>
              </a:rPr>
              <a:t>Firebase Cloud Messaging (push)</a:t>
            </a:r>
            <a:endParaRPr sz="1700" b="0">
              <a:solidFill>
                <a:srgbClr val="000000"/>
              </a:solidFill>
              <a:latin typeface="Times New Roman" panose="02020603050405020304"/>
            </a:endParaRPr>
          </a:p>
          <a:p>
            <a:pPr marL="274320" indent="-274320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sz="1700" b="0">
                <a:solidFill>
                  <a:srgbClr val="000000"/>
                </a:solidFill>
                <a:latin typeface="Times New Roman" panose="02020603050405020304"/>
              </a:rPr>
              <a:t>Cloud object storage for images</a:t>
            </a:r>
            <a:endParaRPr sz="1700" b="0">
              <a:solidFill>
                <a:srgbClr val="000000"/>
              </a:solidFill>
              <a:latin typeface="Times New Roman" panose="02020603050405020304"/>
            </a:endParaRPr>
          </a:p>
          <a:p>
            <a:pPr marL="274320" indent="-274320">
              <a:spcAft>
                <a:spcPts val="500"/>
              </a:spcAft>
              <a:buFont typeface="Wingdings" panose="05000000000000000000" pitchFamily="2" charset="2"/>
              <a:buChar char="Ø"/>
            </a:pPr>
            <a:r>
              <a:rPr sz="1700" b="0">
                <a:solidFill>
                  <a:srgbClr val="000000"/>
                </a:solidFill>
                <a:latin typeface="Times New Roman" panose="02020603050405020304"/>
              </a:rPr>
              <a:t>JWT for authentication</a:t>
            </a:r>
            <a:endParaRPr sz="1700" b="0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109728"/>
            <a:ext cx="9509760" cy="914400"/>
          </a:xfrm>
        </p:spPr>
        <p:txBody>
          <a:bodyPr wrap="square" anchor="ctr"/>
          <a:lstStyle/>
          <a:p>
            <a:pPr algn="ctr"/>
            <a:r>
              <a:rPr sz="2800">
                <a:solidFill>
                  <a:srgbClr val="002060"/>
                </a:solidFill>
                <a:latin typeface="Algerian" panose="04020705040A02060702"/>
              </a:rPr>
              <a:t>Dataset or Data Collection Method</a:t>
            </a:r>
            <a:endParaRPr sz="2800">
              <a:solidFill>
                <a:srgbClr val="002060"/>
              </a:solidFill>
              <a:latin typeface="Algerian" panose="04020705040A02060702"/>
            </a:endParaRP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680" y="0"/>
            <a:ext cx="955040" cy="1096268"/>
          </a:xfrm>
          <a:prstGeom prst="rect">
            <a:avLst/>
          </a:prstGeom>
        </p:spPr>
      </p:pic>
      <p:pic>
        <p:nvPicPr>
          <p:cNvPr id="4" name="Picture 3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3279" y="6450"/>
            <a:ext cx="1031065" cy="9757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2801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 b="1">
                <a:solidFill>
                  <a:srgbClr val="002060"/>
                </a:solidFill>
                <a:latin typeface="Times New Roman" panose="02020603050405020304"/>
              </a:rPr>
              <a:t>How data is collected</a:t>
            </a:r>
            <a:endParaRPr sz="2100" b="1">
              <a:solidFill>
                <a:srgbClr val="002060"/>
              </a:solidFill>
              <a:latin typeface="Times New Roman" panose="020206030504050203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5394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900"/>
              </a:spcAft>
              <a:buFont typeface="Wingdings" panose="05000000000000000000" pitchFamily="2" charset="2"/>
              <a:buChar char="Ø"/>
            </a:pPr>
            <a:r>
              <a:rPr sz="1700" b="1">
                <a:solidFill>
                  <a:srgbClr val="002060"/>
                </a:solidFill>
                <a:latin typeface="Times New Roman" panose="02020603050405020304"/>
              </a:rPr>
              <a:t>Seed catalogue: </a:t>
            </a:r>
            <a:r>
              <a:rPr sz="1700" b="0">
                <a:solidFill>
                  <a:srgbClr val="000000"/>
                </a:solidFill>
                <a:latin typeface="Times New Roman" panose="02020603050405020304"/>
              </a:rPr>
              <a:t>sample wholesale products (grocery, FMCG, apparel) with prices and MOQ tiers.</a:t>
            </a:r>
            <a:endParaRPr sz="1700" b="0">
              <a:solidFill>
                <a:srgbClr val="000000"/>
              </a:solidFill>
              <a:latin typeface="Times New Roman" panose="02020603050405020304"/>
            </a:endParaRPr>
          </a:p>
          <a:p>
            <a:pPr marL="274320" indent="-274320">
              <a:spcAft>
                <a:spcPts val="900"/>
              </a:spcAft>
              <a:buFont typeface="Wingdings" panose="05000000000000000000" pitchFamily="2" charset="2"/>
              <a:buChar char="Ø"/>
            </a:pPr>
            <a:r>
              <a:rPr sz="1700" b="1">
                <a:solidFill>
                  <a:srgbClr val="002060"/>
                </a:solidFill>
                <a:latin typeface="Times New Roman" panose="02020603050405020304"/>
              </a:rPr>
              <a:t>Product images: </a:t>
            </a:r>
            <a:r>
              <a:rPr sz="1700" b="0">
                <a:solidFill>
                  <a:srgbClr val="000000"/>
                </a:solidFill>
                <a:latin typeface="Times New Roman" panose="02020603050405020304"/>
              </a:rPr>
              <a:t>photos captured in-app by camera or gallery during testing.</a:t>
            </a:r>
            <a:endParaRPr sz="1700" b="0">
              <a:solidFill>
                <a:srgbClr val="000000"/>
              </a:solidFill>
              <a:latin typeface="Times New Roman" panose="02020603050405020304"/>
            </a:endParaRPr>
          </a:p>
          <a:p>
            <a:pPr marL="274320" indent="-274320">
              <a:spcAft>
                <a:spcPts val="900"/>
              </a:spcAft>
              <a:buFont typeface="Wingdings" panose="05000000000000000000" pitchFamily="2" charset="2"/>
              <a:buChar char="Ø"/>
            </a:pPr>
            <a:r>
              <a:rPr sz="1700" b="1">
                <a:solidFill>
                  <a:srgbClr val="002060"/>
                </a:solidFill>
                <a:latin typeface="Times New Roman" panose="02020603050405020304"/>
              </a:rPr>
              <a:t>Synthetic transactions: </a:t>
            </a:r>
            <a:r>
              <a:rPr sz="1700" b="0">
                <a:solidFill>
                  <a:srgbClr val="000000"/>
                </a:solidFill>
                <a:latin typeface="Times New Roman" panose="02020603050405020304"/>
              </a:rPr>
              <a:t>simulated offers, counteroffers and group orders to test the logic.</a:t>
            </a:r>
            <a:endParaRPr sz="1700" b="0">
              <a:solidFill>
                <a:srgbClr val="000000"/>
              </a:solidFill>
              <a:latin typeface="Times New Roman" panose="02020603050405020304"/>
            </a:endParaRPr>
          </a:p>
          <a:p>
            <a:pPr marL="274320" indent="-274320">
              <a:spcAft>
                <a:spcPts val="900"/>
              </a:spcAft>
              <a:buFont typeface="Wingdings" panose="05000000000000000000" pitchFamily="2" charset="2"/>
              <a:buChar char="Ø"/>
            </a:pPr>
            <a:r>
              <a:rPr sz="1700" b="1">
                <a:solidFill>
                  <a:srgbClr val="002060"/>
                </a:solidFill>
                <a:latin typeface="Times New Roman" panose="02020603050405020304"/>
              </a:rPr>
              <a:t>Field input: </a:t>
            </a:r>
            <a:r>
              <a:rPr sz="1700" b="0">
                <a:solidFill>
                  <a:srgbClr val="000000"/>
                </a:solidFill>
                <a:latin typeface="Times New Roman" panose="02020603050405020304"/>
              </a:rPr>
              <a:t>short interviews with local wholesalers and retailers to validate requirements (planned).</a:t>
            </a:r>
            <a:endParaRPr sz="1700" b="0">
              <a:solidFill>
                <a:srgbClr val="000000"/>
              </a:solidFill>
              <a:latin typeface="Times New Roman" panose="02020603050405020304"/>
            </a:endParaRPr>
          </a:p>
          <a:p>
            <a:pPr marL="274320" indent="-274320">
              <a:spcAft>
                <a:spcPts val="900"/>
              </a:spcAft>
              <a:buFont typeface="Wingdings" panose="05000000000000000000" pitchFamily="2" charset="2"/>
              <a:buChar char="Ø"/>
            </a:pPr>
            <a:r>
              <a:rPr sz="1700" b="1">
                <a:solidFill>
                  <a:srgbClr val="002060"/>
                </a:solidFill>
                <a:latin typeface="Times New Roman" panose="02020603050405020304"/>
              </a:rPr>
              <a:t>Reference prices: </a:t>
            </a:r>
            <a:r>
              <a:rPr sz="1700" b="0">
                <a:solidFill>
                  <a:srgbClr val="000000"/>
                </a:solidFill>
                <a:latin typeface="Times New Roman" panose="02020603050405020304"/>
              </a:rPr>
              <a:t>public wholesale price listings for realistic ranges.</a:t>
            </a:r>
            <a:endParaRPr sz="1700" b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100" b="1">
                <a:solidFill>
                  <a:srgbClr val="002060"/>
                </a:solidFill>
                <a:latin typeface="Times New Roman" panose="02020603050405020304"/>
              </a:rPr>
              <a:t>Data model (core entities)</a:t>
            </a:r>
            <a:endParaRPr sz="2100" b="1">
              <a:solidFill>
                <a:srgbClr val="002060"/>
              </a:solidFill>
              <a:latin typeface="Times New Roman" panose="02020603050405020304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0" y="1783080"/>
          <a:ext cx="5394960" cy="396849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554480"/>
                <a:gridCol w="3840480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Entity</a:t>
                      </a:r>
                      <a:endParaRPr sz="1600" b="1">
                        <a:solidFill>
                          <a:srgbClr val="FFFFFF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2E75B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FFFFFF"/>
                          </a:solidFill>
                          <a:latin typeface="Times New Roman" panose="02020603050405020304"/>
                        </a:rPr>
                        <a:t>Key fields</a:t>
                      </a:r>
                      <a:endParaRPr sz="1600" b="1">
                        <a:solidFill>
                          <a:srgbClr val="FFFFFF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2E75B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02060"/>
                          </a:solidFill>
                          <a:latin typeface="Times New Roman" panose="02020603050405020304"/>
                        </a:rPr>
                        <a:t>Users</a:t>
                      </a:r>
                      <a:endParaRPr sz="1500" b="1">
                        <a:solidFill>
                          <a:srgbClr val="00206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id, role (buyer/seller), name, phone</a:t>
                      </a:r>
                      <a:endParaRPr sz="15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DEEA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02060"/>
                          </a:solidFill>
                          <a:latin typeface="Times New Roman" panose="02020603050405020304"/>
                        </a:rPr>
                        <a:t>Products</a:t>
                      </a:r>
                      <a:endParaRPr sz="1500" b="1">
                        <a:solidFill>
                          <a:srgbClr val="00206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id, seller, name, category, price, MOQ</a:t>
                      </a:r>
                      <a:endParaRPr sz="15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02060"/>
                          </a:solidFill>
                          <a:latin typeface="Times New Roman" panose="02020603050405020304"/>
                        </a:rPr>
                        <a:t>Images</a:t>
                      </a:r>
                      <a:endParaRPr sz="1500" b="1">
                        <a:solidFill>
                          <a:srgbClr val="00206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product id, image URL, source (camera/gallery)</a:t>
                      </a:r>
                      <a:endParaRPr sz="15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DEEA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02060"/>
                          </a:solidFill>
                          <a:latin typeface="Times New Roman" panose="02020603050405020304"/>
                        </a:rPr>
                        <a:t>Offers</a:t>
                      </a:r>
                      <a:endParaRPr sz="1500" b="1">
                        <a:solidFill>
                          <a:srgbClr val="00206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product, buyer, quantity, price, status</a:t>
                      </a:r>
                      <a:endParaRPr sz="15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02060"/>
                          </a:solidFill>
                          <a:latin typeface="Times New Roman" panose="02020603050405020304"/>
                        </a:rPr>
                        <a:t>Group pools</a:t>
                      </a:r>
                      <a:endParaRPr sz="1500" b="1">
                        <a:solidFill>
                          <a:srgbClr val="00206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DEEA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product, target qty, joined qty, deadline</a:t>
                      </a:r>
                      <a:endParaRPr sz="15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DEEA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02060"/>
                          </a:solidFill>
                          <a:latin typeface="Times New Roman" panose="02020603050405020304"/>
                        </a:rPr>
                        <a:t>Orders</a:t>
                      </a:r>
                      <a:endParaRPr sz="1500" b="1">
                        <a:solidFill>
                          <a:srgbClr val="00206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500" b="0">
                          <a:solidFill>
                            <a:srgbClr val="000000"/>
                          </a:solidFill>
                          <a:latin typeface="Times New Roman" panose="02020603050405020304"/>
                        </a:rPr>
                        <a:t>buyer, product, final price, status</a:t>
                      </a:r>
                      <a:endParaRPr sz="1500" b="0">
                        <a:solidFill>
                          <a:srgbClr val="000000"/>
                        </a:solidFill>
                        <a:latin typeface="Times New Roman" panose="02020603050405020304"/>
                      </a:endParaRPr>
                    </a:p>
                  </a:txBody>
                  <a:tcPr marL="45720" marR="45720" marT="22860" marB="2286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109728"/>
            <a:ext cx="9509760" cy="914400"/>
          </a:xfrm>
        </p:spPr>
        <p:txBody>
          <a:bodyPr wrap="square" anchor="ctr"/>
          <a:lstStyle/>
          <a:p>
            <a:pPr algn="ctr"/>
            <a:r>
              <a:rPr sz="2800">
                <a:solidFill>
                  <a:srgbClr val="002060"/>
                </a:solidFill>
                <a:latin typeface="Algerian" panose="04020705040A02060702"/>
              </a:rPr>
              <a:t>Module-wise Design</a:t>
            </a:r>
            <a:endParaRPr sz="2800">
              <a:solidFill>
                <a:srgbClr val="002060"/>
              </a:solidFill>
              <a:latin typeface="Algerian" panose="04020705040A02060702"/>
            </a:endParaRP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680" y="0"/>
            <a:ext cx="955040" cy="1096268"/>
          </a:xfrm>
          <a:prstGeom prst="rect">
            <a:avLst/>
          </a:prstGeom>
        </p:spPr>
      </p:pic>
      <p:pic>
        <p:nvPicPr>
          <p:cNvPr id="4" name="Picture 3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3279" y="6450"/>
            <a:ext cx="1031065" cy="97571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188720"/>
            <a:ext cx="11064240" cy="1645920"/>
          </a:xfrm>
          <a:prstGeom prst="roundRect">
            <a:avLst>
              <a:gd name="adj" fmla="val 5000"/>
            </a:avLst>
          </a:prstGeom>
          <a:solidFill>
            <a:srgbClr val="F3F7FC"/>
          </a:solidFill>
          <a:ln w="15875">
            <a:solidFill>
              <a:srgbClr val="B8CCE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6" name="Picture 5" descr="c_ne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25296"/>
            <a:ext cx="2069432" cy="15727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200400" y="1234440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0070C0"/>
                </a:solidFill>
                <a:latin typeface="Times New Roman" panose="02020603050405020304"/>
              </a:rPr>
              <a:t>Module 1: Smart Wholesale Price Negotiator</a:t>
            </a:r>
            <a:endParaRPr sz="1900" b="1">
              <a:solidFill>
                <a:srgbClr val="0070C0"/>
              </a:solidFill>
              <a:latin typeface="Times New Roman" panose="020206030504050203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00400" y="1645920"/>
            <a:ext cx="8321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002060"/>
                </a:solidFill>
                <a:latin typeface="Times New Roman" panose="02020603050405020304"/>
              </a:rPr>
              <a:t>Input: </a:t>
            </a:r>
            <a:r>
              <a:rPr sz="1500" b="0">
                <a:solidFill>
                  <a:srgbClr val="000000"/>
                </a:solidFill>
                <a:latin typeface="Times New Roman" panose="02020603050405020304"/>
              </a:rPr>
              <a:t>product, quantity and the buyer's offered price.</a:t>
            </a:r>
            <a:endParaRPr sz="1500" b="0">
              <a:solidFill>
                <a:srgbClr val="000000"/>
              </a:solidFill>
              <a:latin typeface="Times New Roman" panose="02020603050405020304"/>
            </a:endParaRP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002060"/>
                </a:solidFill>
                <a:latin typeface="Times New Roman" panose="02020603050405020304"/>
              </a:rPr>
              <a:t>Process: </a:t>
            </a:r>
            <a:r>
              <a:rPr sz="1500" b="0">
                <a:solidFill>
                  <a:srgbClr val="000000"/>
                </a:solidFill>
                <a:latin typeface="Times New Roman" panose="02020603050405020304"/>
              </a:rPr>
              <a:t>seller accepts, rejects or counters; each step is stored as an offer record; negotiation ends at an agreed price or expires.</a:t>
            </a:r>
            <a:endParaRPr sz="1500" b="0">
              <a:solidFill>
                <a:srgbClr val="000000"/>
              </a:solidFill>
              <a:latin typeface="Times New Roman" panose="02020603050405020304"/>
            </a:endParaRP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002060"/>
                </a:solidFill>
                <a:latin typeface="Times New Roman" panose="02020603050405020304"/>
              </a:rPr>
              <a:t>Output: </a:t>
            </a:r>
            <a:r>
              <a:rPr sz="1500" b="0">
                <a:solidFill>
                  <a:srgbClr val="000000"/>
                </a:solidFill>
                <a:latin typeface="Times New Roman" panose="02020603050405020304"/>
              </a:rPr>
              <a:t>locked deal price and an order request.</a:t>
            </a:r>
            <a:endParaRPr sz="1500" b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48640" y="2926080"/>
            <a:ext cx="11064240" cy="1645920"/>
          </a:xfrm>
          <a:prstGeom prst="roundRect">
            <a:avLst>
              <a:gd name="adj" fmla="val 5000"/>
            </a:avLst>
          </a:prstGeom>
          <a:solidFill>
            <a:srgbClr val="F3F7FC"/>
          </a:solidFill>
          <a:ln w="15875">
            <a:solidFill>
              <a:srgbClr val="B8CCE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c_came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962656"/>
            <a:ext cx="1966350" cy="15727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00400" y="2971800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ED7D31"/>
                </a:solidFill>
                <a:latin typeface="Times New Roman" panose="02020603050405020304"/>
              </a:rPr>
              <a:t>Module 2: Camera and Image Uploads</a:t>
            </a:r>
            <a:endParaRPr sz="1900" b="1">
              <a:solidFill>
                <a:srgbClr val="ED7D31"/>
              </a:solidFill>
              <a:latin typeface="Times New Roman" panose="020206030504050203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200400" y="3383280"/>
            <a:ext cx="8321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002060"/>
                </a:solidFill>
                <a:latin typeface="Times New Roman" panose="02020603050405020304"/>
              </a:rPr>
              <a:t>Input: </a:t>
            </a:r>
            <a:r>
              <a:rPr sz="1500" b="0">
                <a:solidFill>
                  <a:srgbClr val="000000"/>
                </a:solidFill>
                <a:latin typeface="Times New Roman" panose="02020603050405020304"/>
              </a:rPr>
              <a:t>photo from the mobile camera or an image from the gallery.</a:t>
            </a:r>
            <a:endParaRPr sz="1500" b="0">
              <a:solidFill>
                <a:srgbClr val="000000"/>
              </a:solidFill>
              <a:latin typeface="Times New Roman" panose="02020603050405020304"/>
            </a:endParaRP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002060"/>
                </a:solidFill>
                <a:latin typeface="Times New Roman" panose="02020603050405020304"/>
              </a:rPr>
              <a:t>Process: </a:t>
            </a:r>
            <a:r>
              <a:rPr sz="1500" b="0">
                <a:solidFill>
                  <a:srgbClr val="000000"/>
                </a:solidFill>
                <a:latin typeface="Times New Roman" panose="02020603050405020304"/>
              </a:rPr>
              <a:t>permission check, validate and compress, upload to cloud storage, link to the product listing.</a:t>
            </a:r>
            <a:endParaRPr sz="1500" b="0">
              <a:solidFill>
                <a:srgbClr val="000000"/>
              </a:solidFill>
              <a:latin typeface="Times New Roman" panose="02020603050405020304"/>
            </a:endParaRP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002060"/>
                </a:solidFill>
                <a:latin typeface="Times New Roman" panose="02020603050405020304"/>
              </a:rPr>
              <a:t>Output: </a:t>
            </a:r>
            <a:r>
              <a:rPr sz="1500" b="0">
                <a:solidFill>
                  <a:srgbClr val="000000"/>
                </a:solidFill>
                <a:latin typeface="Times New Roman" panose="02020603050405020304"/>
              </a:rPr>
              <a:t>listing with an image gallery that buyers can inspect.</a:t>
            </a:r>
            <a:endParaRPr sz="1500" b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8640" y="4663440"/>
            <a:ext cx="11064240" cy="1645920"/>
          </a:xfrm>
          <a:prstGeom prst="roundRect">
            <a:avLst>
              <a:gd name="adj" fmla="val 5000"/>
            </a:avLst>
          </a:prstGeom>
          <a:solidFill>
            <a:srgbClr val="F3F7FC"/>
          </a:solidFill>
          <a:ln w="15875">
            <a:solidFill>
              <a:srgbClr val="B8CCE4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4" name="Picture 13" descr="c_grou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700016"/>
            <a:ext cx="2046004" cy="157276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200400" y="4709159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900" b="1">
                <a:solidFill>
                  <a:srgbClr val="2E9E5B"/>
                </a:solidFill>
                <a:latin typeface="Times New Roman" panose="02020603050405020304"/>
              </a:rPr>
              <a:t>Module 3: Smart Group Buying and Demand Pooling</a:t>
            </a:r>
            <a:endParaRPr sz="1900" b="1">
              <a:solidFill>
                <a:srgbClr val="2E9E5B"/>
              </a:solidFill>
              <a:latin typeface="Times New Roman" panose="020206030504050203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00400" y="5120640"/>
            <a:ext cx="83210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002060"/>
                </a:solidFill>
                <a:latin typeface="Times New Roman" panose="02020603050405020304"/>
              </a:rPr>
              <a:t>Input: </a:t>
            </a:r>
            <a:r>
              <a:rPr sz="1500" b="0">
                <a:solidFill>
                  <a:srgbClr val="000000"/>
                </a:solidFill>
                <a:latin typeface="Times New Roman" panose="02020603050405020304"/>
              </a:rPr>
              <a:t>purchase requests (product, quantity) from many buyers.</a:t>
            </a:r>
            <a:endParaRPr sz="1500" b="0">
              <a:solidFill>
                <a:srgbClr val="000000"/>
              </a:solidFill>
              <a:latin typeface="Times New Roman" panose="02020603050405020304"/>
            </a:endParaRP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002060"/>
                </a:solidFill>
                <a:latin typeface="Times New Roman" panose="02020603050405020304"/>
              </a:rPr>
              <a:t>Process: </a:t>
            </a:r>
            <a:r>
              <a:rPr sz="1500" b="0">
                <a:solidFill>
                  <a:srgbClr val="000000"/>
                </a:solidFill>
                <a:latin typeface="Times New Roman" panose="02020603050405020304"/>
              </a:rPr>
              <a:t>quantities are pooled toward the MOQ target; discount tier applied; deadline closes the pool.</a:t>
            </a:r>
            <a:endParaRPr sz="1500" b="0">
              <a:solidFill>
                <a:srgbClr val="000000"/>
              </a:solidFill>
              <a:latin typeface="Times New Roman" panose="02020603050405020304"/>
            </a:endParaRPr>
          </a:p>
          <a:p>
            <a:pPr>
              <a:spcAft>
                <a:spcPts val="300"/>
              </a:spcAft>
            </a:pPr>
            <a:r>
              <a:rPr sz="1500" b="1">
                <a:solidFill>
                  <a:srgbClr val="002060"/>
                </a:solidFill>
                <a:latin typeface="Times New Roman" panose="02020603050405020304"/>
              </a:rPr>
              <a:t>Output: </a:t>
            </a:r>
            <a:r>
              <a:rPr sz="1500" b="0">
                <a:solidFill>
                  <a:srgbClr val="000000"/>
                </a:solidFill>
                <a:latin typeface="Times New Roman" panose="02020603050405020304"/>
              </a:rPr>
              <a:t>unlocked wholesale price, consolidated order and notifications.</a:t>
            </a:r>
            <a:endParaRPr sz="1500" b="0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5880" y="109728"/>
            <a:ext cx="9509760" cy="914400"/>
          </a:xfrm>
        </p:spPr>
        <p:txBody>
          <a:bodyPr wrap="square" anchor="ctr"/>
          <a:lstStyle/>
          <a:p>
            <a:pPr algn="ctr"/>
            <a:r>
              <a:rPr sz="2800">
                <a:solidFill>
                  <a:srgbClr val="002060"/>
                </a:solidFill>
                <a:latin typeface="Algerian" panose="04020705040A02060702"/>
              </a:rPr>
              <a:t>Current Progress and Future Work</a:t>
            </a:r>
            <a:endParaRPr sz="2800">
              <a:solidFill>
                <a:srgbClr val="002060"/>
              </a:solidFill>
              <a:latin typeface="Algerian" panose="04020705040A02060702"/>
            </a:endParaRP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680" y="0"/>
            <a:ext cx="955040" cy="1096268"/>
          </a:xfrm>
          <a:prstGeom prst="rect">
            <a:avLst/>
          </a:prstGeom>
        </p:spPr>
      </p:pic>
      <p:pic>
        <p:nvPicPr>
          <p:cNvPr id="4" name="Picture 3" descr="image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3279" y="6450"/>
            <a:ext cx="1031065" cy="97571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48640" y="1280160"/>
            <a:ext cx="3474720" cy="4434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B8CC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3474720" cy="594360"/>
          </a:xfrm>
          <a:prstGeom prst="roundRect">
            <a:avLst>
              <a:gd name="adj" fmla="val 20000"/>
            </a:avLst>
          </a:prstGeom>
          <a:solidFill>
            <a:srgbClr val="2E9E5B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Times New Roman" panose="02020603050405020304"/>
              </a:rPr>
              <a:t>Completed</a:t>
            </a:r>
            <a:endParaRPr sz="21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154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sz="1800" b="0">
                <a:solidFill>
                  <a:srgbClr val="000000"/>
                </a:solidFill>
                <a:latin typeface="Times New Roman" panose="02020603050405020304"/>
              </a:rPr>
              <a:t>Problem study and module finalization</a:t>
            </a:r>
            <a:endParaRPr sz="1800" b="0">
              <a:solidFill>
                <a:srgbClr val="000000"/>
              </a:solidFill>
              <a:latin typeface="Times New Roman" panose="02020603050405020304"/>
            </a:endParaRPr>
          </a:p>
          <a:p>
            <a:pPr marL="274320" indent="-27432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sz="1800" b="0">
                <a:solidFill>
                  <a:srgbClr val="000000"/>
                </a:solidFill>
                <a:latin typeface="Times New Roman" panose="02020603050405020304"/>
              </a:rPr>
              <a:t>Literature survey of 8 recent papers</a:t>
            </a:r>
            <a:endParaRPr sz="1800" b="0">
              <a:solidFill>
                <a:srgbClr val="000000"/>
              </a:solidFill>
              <a:latin typeface="Times New Roman" panose="02020603050405020304"/>
            </a:endParaRPr>
          </a:p>
          <a:p>
            <a:pPr marL="274320" indent="-27432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sz="1800" b="0">
                <a:solidFill>
                  <a:srgbClr val="000000"/>
                </a:solidFill>
                <a:latin typeface="Times New Roman" panose="02020603050405020304"/>
              </a:rPr>
              <a:t>System architecture and workflow design</a:t>
            </a:r>
            <a:endParaRPr sz="1800" b="0">
              <a:solidFill>
                <a:srgbClr val="000000"/>
              </a:solidFill>
              <a:latin typeface="Times New Roman" panose="02020603050405020304"/>
            </a:endParaRPr>
          </a:p>
          <a:p>
            <a:pPr marL="274320" indent="-27432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sz="1800" b="0">
                <a:solidFill>
                  <a:srgbClr val="000000"/>
                </a:solidFill>
                <a:latin typeface="Times New Roman" panose="02020603050405020304"/>
              </a:rPr>
              <a:t>Technology stack selection</a:t>
            </a:r>
            <a:endParaRPr sz="1800" b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43400" y="1280160"/>
            <a:ext cx="3474720" cy="4434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B8CC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43400" y="1280160"/>
            <a:ext cx="3474720" cy="594360"/>
          </a:xfrm>
          <a:prstGeom prst="roundRect">
            <a:avLst>
              <a:gd name="adj" fmla="val 20000"/>
            </a:avLst>
          </a:prstGeom>
          <a:solidFill>
            <a:srgbClr val="ED7D31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Times New Roman" panose="02020603050405020304"/>
              </a:rPr>
              <a:t>In Progress</a:t>
            </a:r>
            <a:endParaRPr sz="21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26280" y="2011680"/>
            <a:ext cx="3154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sz="1800" b="0">
                <a:solidFill>
                  <a:srgbClr val="000000"/>
                </a:solidFill>
                <a:latin typeface="Times New Roman" panose="02020603050405020304"/>
              </a:rPr>
              <a:t>Flutter UI screens for the three modules</a:t>
            </a:r>
            <a:endParaRPr sz="1800" b="0">
              <a:solidFill>
                <a:srgbClr val="000000"/>
              </a:solidFill>
              <a:latin typeface="Times New Roman" panose="02020603050405020304"/>
            </a:endParaRPr>
          </a:p>
          <a:p>
            <a:pPr marL="274320" indent="-27432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sz="1800" b="0">
                <a:solidFill>
                  <a:srgbClr val="000000"/>
                </a:solidFill>
                <a:latin typeface="Times New Roman" panose="02020603050405020304"/>
              </a:rPr>
              <a:t>Backend REST APIs and database schema</a:t>
            </a:r>
            <a:endParaRPr sz="1800" b="0">
              <a:solidFill>
                <a:srgbClr val="000000"/>
              </a:solidFill>
              <a:latin typeface="Times New Roman" panose="02020603050405020304"/>
            </a:endParaRPr>
          </a:p>
          <a:p>
            <a:pPr marL="274320" indent="-27432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sz="1800" b="0">
                <a:solidFill>
                  <a:srgbClr val="000000"/>
                </a:solidFill>
                <a:latin typeface="Times New Roman" panose="02020603050405020304"/>
              </a:rPr>
              <a:t>Camera and gallery upload integration</a:t>
            </a:r>
            <a:endParaRPr sz="1800" b="0">
              <a:solidFill>
                <a:srgbClr val="000000"/>
              </a:solidFill>
              <a:latin typeface="Times New Roman" panose="02020603050405020304"/>
            </a:endParaRPr>
          </a:p>
          <a:p>
            <a:pPr marL="274320" indent="-27432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sz="1800" b="0">
                <a:solidFill>
                  <a:srgbClr val="000000"/>
                </a:solidFill>
                <a:latin typeface="Times New Roman" panose="02020603050405020304"/>
              </a:rPr>
              <a:t>Offer and counteroffer logic</a:t>
            </a:r>
            <a:endParaRPr sz="1800" b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138160" y="1280160"/>
            <a:ext cx="3474720" cy="4434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B8CCE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138160" y="1280160"/>
            <a:ext cx="3474720" cy="594360"/>
          </a:xfrm>
          <a:prstGeom prst="roundRect">
            <a:avLst>
              <a:gd name="adj" fmla="val 20000"/>
            </a:avLst>
          </a:prstGeom>
          <a:solidFill>
            <a:srgbClr val="0070C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Times New Roman" panose="02020603050405020304"/>
              </a:rPr>
              <a:t>Future Work</a:t>
            </a:r>
            <a:endParaRPr sz="2100" b="1">
              <a:solidFill>
                <a:srgbClr val="FFFFFF"/>
              </a:solidFill>
              <a:latin typeface="Times New Roman" panose="020206030504050203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21040" y="2011680"/>
            <a:ext cx="31546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74320" indent="-27432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sz="1800" b="0">
                <a:solidFill>
                  <a:srgbClr val="000000"/>
                </a:solidFill>
                <a:latin typeface="Times New Roman" panose="02020603050405020304"/>
              </a:rPr>
              <a:t>Real-time chat and push alerts for offers</a:t>
            </a:r>
            <a:endParaRPr sz="1800" b="0">
              <a:solidFill>
                <a:srgbClr val="000000"/>
              </a:solidFill>
              <a:latin typeface="Times New Roman" panose="02020603050405020304"/>
            </a:endParaRPr>
          </a:p>
          <a:p>
            <a:pPr marL="274320" indent="-27432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sz="1800" b="0">
                <a:solidFill>
                  <a:srgbClr val="000000"/>
                </a:solidFill>
                <a:latin typeface="Times New Roman" panose="02020603050405020304"/>
              </a:rPr>
              <a:t>UPI payments and delivery tracking</a:t>
            </a:r>
            <a:endParaRPr sz="1800" b="0">
              <a:solidFill>
                <a:srgbClr val="000000"/>
              </a:solidFill>
              <a:latin typeface="Times New Roman" panose="02020603050405020304"/>
            </a:endParaRPr>
          </a:p>
          <a:p>
            <a:pPr marL="274320" indent="-27432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sz="1800" b="0">
                <a:solidFill>
                  <a:srgbClr val="000000"/>
                </a:solidFill>
                <a:latin typeface="Times New Roman" panose="02020603050405020304"/>
              </a:rPr>
              <a:t>Regional-language support</a:t>
            </a:r>
            <a:endParaRPr sz="1800" b="0">
              <a:solidFill>
                <a:srgbClr val="000000"/>
              </a:solidFill>
              <a:latin typeface="Times New Roman" panose="02020603050405020304"/>
            </a:endParaRPr>
          </a:p>
          <a:p>
            <a:pPr marL="274320" indent="-27432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sz="1800" b="0">
                <a:solidFill>
                  <a:srgbClr val="000000"/>
                </a:solidFill>
                <a:latin typeface="Times New Roman" panose="02020603050405020304"/>
              </a:rPr>
              <a:t>AI price suggestions and demand forecasting</a:t>
            </a:r>
            <a:endParaRPr sz="1800" b="0">
              <a:solidFill>
                <a:srgbClr val="000000"/>
              </a:solidFill>
              <a:latin typeface="Times New Roman" panose="02020603050405020304"/>
            </a:endParaRPr>
          </a:p>
          <a:p>
            <a:pPr marL="274320" indent="-274320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sz="1800" b="0">
                <a:solidFill>
                  <a:srgbClr val="000000"/>
                </a:solidFill>
                <a:latin typeface="Times New Roman" panose="02020603050405020304"/>
              </a:rPr>
              <a:t>Usability testing with real wholesalers</a:t>
            </a:r>
            <a:endParaRPr sz="1800" b="0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48640" y="5852160"/>
            <a:ext cx="11064240" cy="548640"/>
          </a:xfrm>
          <a:prstGeom prst="roundRect">
            <a:avLst>
              <a:gd name="adj" fmla="val 20000"/>
            </a:avLst>
          </a:prstGeom>
          <a:solidFill>
            <a:srgbClr val="002060"/>
          </a:solidFill>
          <a:ln>
            <a:noFill/>
          </a:ln>
        </p:spPr>
        <p:txBody>
          <a:bodyPr wrap="square" lIns="73152" tIns="36576" rIns="73152" bIns="36576" rtlCol="0" anchor="ctr"/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Times New Roman" panose="02020603050405020304"/>
              </a:rPr>
              <a:t>Thank you  |  Questions?</a:t>
            </a:r>
            <a:endParaRPr sz="2000" b="1">
              <a:solidFill>
                <a:srgbClr val="FFFFFF"/>
              </a:solidFill>
              <a:latin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9977</Words>
  <Application>WPS Presentation</Application>
  <PresentationFormat/>
  <Paragraphs>471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6" baseType="lpstr">
      <vt:lpstr>Arial</vt:lpstr>
      <vt:lpstr>SimSun</vt:lpstr>
      <vt:lpstr>Wingdings</vt:lpstr>
      <vt:lpstr>Arial</vt:lpstr>
      <vt:lpstr>Times New Roman</vt:lpstr>
      <vt:lpstr>Bodoni MT</vt:lpstr>
      <vt:lpstr>Times New Roman</vt:lpstr>
      <vt:lpstr>Algerian</vt:lpstr>
      <vt:lpstr>Microsoft YaHei</vt:lpstr>
      <vt:lpstr>Arial Unicode MS</vt:lpstr>
      <vt:lpstr>Calibri</vt:lpstr>
      <vt:lpstr>Office Theme</vt:lpstr>
      <vt:lpstr>Cross-Platform Mobile Marketplace for Wholesale Buyers to Promote Inclusive Economic Growth and Digital Innovation</vt:lpstr>
      <vt:lpstr>Introduction and Background</vt:lpstr>
      <vt:lpstr>Problem Statement</vt:lpstr>
      <vt:lpstr>Motivation and Need for the Project</vt:lpstr>
      <vt:lpstr>Objectives</vt:lpstr>
      <vt:lpstr>Literature Survey</vt:lpstr>
      <vt:lpstr>Existing System and its Limitations</vt:lpstr>
      <vt:lpstr>Proposed System and Novel Features</vt:lpstr>
      <vt:lpstr>Proposed Methodology / Workflow</vt:lpstr>
      <vt:lpstr>System Architecture Diagram</vt:lpstr>
      <vt:lpstr>Technologies, Software, Hardware and Tools</vt:lpstr>
      <vt:lpstr>Dataset or Data Collection Method</vt:lpstr>
      <vt:lpstr>Module-wise Design</vt:lpstr>
      <vt:lpstr>Current Progress and Future Work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Electric Vehicle Charging Demand Forecasting Using Moment Generating Functions and Probability Models </dc:title>
  <dc:creator/>
  <cp:lastModifiedBy>manoj</cp:lastModifiedBy>
  <cp:revision>2</cp:revision>
  <dcterms:created xsi:type="dcterms:W3CDTF">2026-09-05T08:48:00Z</dcterms:created>
  <dcterms:modified xsi:type="dcterms:W3CDTF">2026-10-29T04:10:57Z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465D82B95D76442890F16D2E31635551_13</vt:lpwstr>
  </property>
</Properties>
</file>